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2F6FC"/>
                </a:solidFill>
              </a:defRPr>
            </a:pPr>
            <a:r>
              <a:t>FINANCIAL RISK ANALYTICS</a:t>
            </a:r>
          </a:p>
          <a:p>
            <a:pPr>
              <a:defRPr sz="2500">
                <a:solidFill>
                  <a:srgbClr val="41A9F5"/>
                </a:solidFill>
              </a:defRPr>
            </a:pPr>
            <a:r>
              <a:t>with Polyglot Data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17520"/>
            <a:ext cx="3383280" cy="123444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017520"/>
            <a:ext cx="50292" cy="1234440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136391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PROJECT REVIEW–2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47872"/>
            <a:ext cx="30632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A9B8CD"/>
                </a:solidFill>
              </a:defRPr>
            </a:pPr>
            <a:r>
              <a:t>Literature Review • Critical Analysis • Research Gap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017520"/>
            <a:ext cx="3383280" cy="123444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3017520"/>
            <a:ext cx="50292" cy="1234440"/>
          </a:xfrm>
          <a:prstGeom prst="rect">
            <a:avLst/>
          </a:prstGeom>
          <a:solidFill>
            <a:srgbClr val="3EC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3136391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547872"/>
            <a:ext cx="30632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A9B8CD"/>
                </a:solidFill>
              </a:defRPr>
            </a:pPr>
            <a:r>
              <a:t>25CS1302E – DBE &amp; DSD  |  Project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3017520"/>
            <a:ext cx="3474720" cy="123444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3017520"/>
            <a:ext cx="50292" cy="1234440"/>
          </a:xfrm>
          <a:prstGeom prst="rect">
            <a:avLst/>
          </a:prstGeom>
          <a:solidFill>
            <a:srgbClr val="9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3136391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GROUP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3547872"/>
            <a:ext cx="3154679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A9B8CD"/>
                </a:solidFill>
              </a:defRPr>
            </a:pPr>
            <a:r>
              <a:t>Utkalika • Divya Sri • Ambika • Kavitha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8CD"/>
                </a:solidFill>
              </a:defRPr>
            </a:pPr>
            <a:r>
              <a:t>Supervisor: Melinda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</a:defRPr>
            </a:pPr>
            <a:r>
              <a:t>1. Review–2 Evaluation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8CD"/>
                </a:solidFill>
              </a:defRPr>
            </a:pPr>
            <a:r>
              <a:t>Every section directly addresses the five 50-mark criteria.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148840" cy="448056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50292" cy="4480560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2F6FC"/>
                </a:solidFill>
              </a:defRPr>
            </a:pPr>
            <a:r>
              <a:t>10 MARKS — RELEVANCE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56231"/>
            <a:ext cx="1828800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A9B8CD"/>
                </a:solidFill>
              </a:defRPr>
            </a:pPr>
            <a:r>
              <a:t>Financial Risk Analytics + Polyglot Data Engineering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325880"/>
            <a:ext cx="2148840" cy="448056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360" y="1325880"/>
            <a:ext cx="50292" cy="4480560"/>
          </a:xfrm>
          <a:prstGeom prst="rect">
            <a:avLst/>
          </a:prstGeom>
          <a:solidFill>
            <a:srgbClr val="3EC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144475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2F6FC"/>
                </a:solidFill>
              </a:defRPr>
            </a:pPr>
            <a:r>
              <a:t>10 MARKS — LITERATURE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856231"/>
            <a:ext cx="1828800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A9B8CD"/>
                </a:solidFill>
              </a:defRPr>
            </a:pPr>
            <a:r>
              <a:t>Methods • datasets • techniques • findings • limitations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1325880"/>
            <a:ext cx="2148840" cy="448056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60" y="1325880"/>
            <a:ext cx="50292" cy="4480560"/>
          </a:xfrm>
          <a:prstGeom prst="rect">
            <a:avLst/>
          </a:prstGeom>
          <a:solidFill>
            <a:srgbClr val="F4A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44475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2F6FC"/>
                </a:solidFill>
              </a:defRPr>
            </a:pPr>
            <a:r>
              <a:t>10 MARKS — CRITICAL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1856231"/>
            <a:ext cx="1828800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A9B8CD"/>
                </a:solidFill>
              </a:defRPr>
            </a:pPr>
            <a:r>
              <a:t>Strengths • limitations • similarities • differences • synthesis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325880"/>
            <a:ext cx="2148840" cy="448056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1325880"/>
            <a:ext cx="50292" cy="4480560"/>
          </a:xfrm>
          <a:prstGeom prst="rect">
            <a:avLst/>
          </a:prstGeom>
          <a:solidFill>
            <a:srgbClr val="ED6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144475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2F6FC"/>
                </a:solidFill>
              </a:defRPr>
            </a:pPr>
            <a:r>
              <a:t>10 MARKS — GAP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1856231"/>
            <a:ext cx="1828800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A9B8CD"/>
                </a:solidFill>
              </a:defRPr>
            </a:pPr>
            <a:r>
              <a:t>What existing work misses + how our project responds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1325880"/>
            <a:ext cx="2148840" cy="448056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38360" y="1325880"/>
            <a:ext cx="50292" cy="4480560"/>
          </a:xfrm>
          <a:prstGeom prst="rect">
            <a:avLst/>
          </a:prstGeom>
          <a:solidFill>
            <a:srgbClr val="9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144475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2F6FC"/>
                </a:solidFill>
              </a:defRPr>
            </a:pPr>
            <a:r>
              <a:t>10 MARKS —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1856231"/>
            <a:ext cx="1828800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A9B8CD"/>
                </a:solidFill>
              </a:defRPr>
            </a:pPr>
            <a:r>
              <a:t>Clear flow • organized visuals • team understanding • Q&amp;A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8CD"/>
                </a:solidFill>
              </a:defRPr>
            </a:pPr>
            <a:r>
              <a:t>Financial Risk Analytics with Polyglot Data Engineering  |  Review–2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</a:defRPr>
            </a:pPr>
            <a:r>
              <a:t>2. From Review–1 to Review–2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8CD"/>
                </a:solidFill>
              </a:defRPr>
            </a:pPr>
            <a:r>
              <a:t>Review–1 established the project foundation; Review–2 validates and refines it through literature.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74720" cy="429768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50292" cy="4297680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9047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F6FC"/>
                </a:solidFill>
              </a:defRPr>
            </a:pPr>
            <a:r>
              <a:t>REVIEW–1: ESTABLISHED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01952"/>
            <a:ext cx="3154679" cy="3675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9B8CD"/>
                </a:solidFill>
              </a:defRPr>
            </a:pPr>
            <a:r>
              <a:t>Problem: fragmented customer/account/transaction data</a:t>
            </a:r>
            <a:br/>
            <a:br/>
            <a:r>
              <a:t>Need: secure, fast financial-risk insights</a:t>
            </a:r>
            <a:br/>
            <a:br/>
            <a:r>
              <a:t>Proposed: PostgreSQL + MongoDB + REST APIs + JWT +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71600"/>
            <a:ext cx="3474720" cy="429768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371600"/>
            <a:ext cx="50292" cy="4297680"/>
          </a:xfrm>
          <a:prstGeom prst="rect">
            <a:avLst/>
          </a:prstGeom>
          <a:solidFill>
            <a:srgbClr val="3EC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49047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F6FC"/>
                </a:solidFill>
              </a:defRPr>
            </a:pPr>
            <a:r>
              <a:t>REVIEW–2: INVESTIGATES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01952"/>
            <a:ext cx="3154679" cy="3675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9B8CD"/>
                </a:solidFill>
              </a:defRPr>
            </a:pPr>
            <a:r>
              <a:t>What does research already do?</a:t>
            </a:r>
            <a:br/>
            <a:br/>
            <a:r>
              <a:t>Which methods/data/architectures work?</a:t>
            </a:r>
            <a:br/>
            <a:br/>
            <a:r>
              <a:t>What are the limitations?</a:t>
            </a:r>
            <a:br/>
            <a:br/>
            <a:r>
              <a:t>What is still missing?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371600"/>
            <a:ext cx="3474720" cy="429768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371600"/>
            <a:ext cx="50292" cy="4297680"/>
          </a:xfrm>
          <a:prstGeom prst="rect">
            <a:avLst/>
          </a:prstGeom>
          <a:solidFill>
            <a:srgbClr val="9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3" y="149047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F6FC"/>
                </a:solidFill>
              </a:defRPr>
            </a:pPr>
            <a:r>
              <a:t>OUTPUT OF REVIEW–2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1901952"/>
            <a:ext cx="3154679" cy="3675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9B8CD"/>
                </a:solidFill>
              </a:defRPr>
            </a:pPr>
            <a:r>
              <a:t>Evidence-based technology choice</a:t>
            </a:r>
            <a:br/>
            <a:br/>
            <a:r>
              <a:t>Critical synthesis</a:t>
            </a:r>
            <a:br/>
            <a:br/>
            <a:r>
              <a:t>Clear research gap</a:t>
            </a:r>
            <a:br/>
            <a:br/>
            <a:r>
              <a:t>Project contribution linked directly to the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8CD"/>
                </a:solidFill>
              </a:defRPr>
            </a:pPr>
            <a:r>
              <a:t>Financial Risk Analytics with Polyglot Data Engineering  |  Review–2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</a:defRPr>
            </a:pPr>
            <a:r>
              <a:t>3. Literature Review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8CD"/>
                </a:solidFill>
              </a:defRPr>
            </a:pPr>
            <a:r>
              <a:t>Papers were selected by relevance to the two core dimensions of the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383280" cy="438912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50292" cy="4389120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F6FC"/>
                </a:solidFill>
              </a:defRPr>
            </a:pPr>
            <a:r>
              <a:t>SEARCH THEMES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01952"/>
            <a:ext cx="306324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B8CD"/>
                </a:solidFill>
              </a:defRPr>
            </a:pPr>
            <a:r>
              <a:t>Financial risk analytics</a:t>
            </a:r>
            <a:br/>
            <a:r>
              <a:t>Financial transaction fraud</a:t>
            </a:r>
            <a:br/>
            <a:r>
              <a:t>Machine/deep learning</a:t>
            </a:r>
            <a:br/>
            <a:r>
              <a:t>Explainable AI</a:t>
            </a:r>
            <a:br/>
            <a:r>
              <a:t>Polyglot persistence</a:t>
            </a:r>
            <a:br/>
            <a:r>
              <a:t>Database selection</a:t>
            </a:r>
            <a:br/>
            <a:r>
              <a:t>PostgreSQL + MongoDB architectures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38912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50292" cy="4389120"/>
          </a:xfrm>
          <a:prstGeom prst="rect">
            <a:avLst/>
          </a:prstGeom>
          <a:solidFill>
            <a:srgbClr val="3EC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F6FC"/>
                </a:solidFill>
              </a:defRPr>
            </a:pPr>
            <a:r>
              <a:t>SELECTION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01952"/>
            <a:ext cx="306324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B8CD"/>
                </a:solidFill>
              </a:defRPr>
            </a:pPr>
            <a:r>
              <a:t>Direct relevance to project problem</a:t>
            </a:r>
            <a:br/>
            <a:br/>
            <a:r>
              <a:t>Peer-reviewed / academic sources</a:t>
            </a:r>
            <a:br/>
            <a:br/>
            <a:r>
              <a:t>Methods and findings available</a:t>
            </a:r>
            <a:br/>
            <a:br/>
            <a:r>
              <a:t>Evidence useful for architecture or analytics decisions</a:t>
            </a:r>
            <a:br/>
            <a:br/>
            <a:r>
              <a:t>Recent work prioritized where available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383280" cy="438912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50292" cy="4389120"/>
          </a:xfrm>
          <a:prstGeom prst="rect">
            <a:avLst/>
          </a:prstGeom>
          <a:solidFill>
            <a:srgbClr val="9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F6FC"/>
                </a:solidFill>
              </a:defRPr>
            </a:pPr>
            <a:r>
              <a:t>ANALYSIS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01952"/>
            <a:ext cx="306324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B8CD"/>
                </a:solidFill>
              </a:defRPr>
            </a:pPr>
            <a:r>
              <a:t>For each important paper:</a:t>
            </a:r>
            <a:br/>
            <a:br/>
            <a:r>
              <a:t>Problem → Dataset → Method → Finding → Strength → Limitation → Relevance</a:t>
            </a:r>
            <a:br/>
            <a:br/>
            <a:r>
              <a:t>Then compare papers across both research streams.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8CD"/>
                </a:solidFill>
              </a:defRPr>
            </a:pPr>
            <a:r>
              <a:t>Financial Risk Analytics with Polyglot Data Engineering  |  Review–2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</a:defRPr>
            </a:pPr>
            <a:r>
              <a:t>4.1 Literature Deep Dive — P1 | Murugan &amp; Sree Kala (2023)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2743200" cy="182880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0292" cy="1828800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F6FC"/>
                </a:solidFill>
              </a:defRPr>
            </a:pPr>
            <a:r>
              <a:t>PROBLEM /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24231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9B8CD"/>
                </a:solidFill>
              </a:defRPr>
            </a:pPr>
            <a:r>
              <a:t>Large-scale financial risk management using 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34440"/>
            <a:ext cx="2743200" cy="182880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234440"/>
            <a:ext cx="50292" cy="1828800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353312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F6FC"/>
                </a:solidFill>
              </a:defRPr>
            </a:pPr>
            <a:r>
              <a:t>DATASET /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64792"/>
            <a:ext cx="24231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9B8CD"/>
                </a:solidFill>
              </a:defRPr>
            </a:pPr>
            <a:r>
              <a:t>Large-scale financial datasets; exact data 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234440"/>
            <a:ext cx="2514600" cy="182880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234440"/>
            <a:ext cx="50292" cy="1828800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3533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F6FC"/>
                </a:solidFill>
              </a:defRPr>
            </a:pPr>
            <a:r>
              <a:t>METHOD / TECHNIQUE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64792"/>
            <a:ext cx="21945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9B8CD"/>
                </a:solidFill>
              </a:defRPr>
            </a:pPr>
            <a:r>
              <a:t>Cluster-based KNN, Logistic Regression, XGBoost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234440"/>
            <a:ext cx="2514600" cy="182880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1234440"/>
            <a:ext cx="50292" cy="1828800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59" y="13533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F6FC"/>
                </a:solidFill>
              </a:defRPr>
            </a:pPr>
            <a:r>
              <a:t>MAJOR FINDING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1764792"/>
            <a:ext cx="21945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>
                <a:solidFill>
                  <a:srgbClr val="A9B8CD"/>
                </a:solidFill>
              </a:defRPr>
            </a:pPr>
            <a:r>
              <a:t>XGBoost/KNN reported better risk-management results than compared methods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5394960" cy="192024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337560"/>
            <a:ext cx="50292" cy="1920240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56432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STRENGTH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67911"/>
            <a:ext cx="50749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B8CD"/>
                </a:solidFill>
              </a:defRPr>
            </a:pPr>
            <a:r>
              <a:t>ML can support large-scale financial risk prediction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337560"/>
            <a:ext cx="5394960" cy="192024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337560"/>
            <a:ext cx="50292" cy="1920240"/>
          </a:xfrm>
          <a:prstGeom prst="rect">
            <a:avLst/>
          </a:prstGeom>
          <a:solidFill>
            <a:srgbClr val="ED6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456432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LIMITATION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867911"/>
            <a:ext cx="50749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B8CD"/>
                </a:solidFill>
              </a:defRPr>
            </a:pPr>
            <a:r>
              <a:t>Data confidentiality; architecture/deployment not central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86400"/>
            <a:ext cx="11064240" cy="59436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486400"/>
            <a:ext cx="50292" cy="594360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605272"/>
            <a:ext cx="10744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2F6FC"/>
                </a:solidFill>
              </a:defRPr>
            </a:pPr>
            <a:r>
              <a:t>DIRECT RELEVANCE TO OUR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016752"/>
            <a:ext cx="107442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9B8CD"/>
                </a:solidFill>
              </a:defRPr>
            </a:pPr>
            <a:r>
              <a:t>Supports our analytics/model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8CD"/>
                </a:solidFill>
              </a:defRPr>
            </a:pPr>
            <a:r>
              <a:t>Financial Risk Analytics with Polyglot Data Engineering  |  Review–2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</a:defRPr>
            </a:pPr>
            <a:r>
              <a:t>4.2 Literature Deep Dive — P2 | Roy-Hubara et al. (2022)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2743200" cy="182880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0292" cy="1828800"/>
          </a:xfrm>
          <a:prstGeom prst="rect">
            <a:avLst/>
          </a:prstGeom>
          <a:solidFill>
            <a:srgbClr val="3EC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F6FC"/>
                </a:solidFill>
              </a:defRPr>
            </a:pPr>
            <a:r>
              <a:t>PROBLEM /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24231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9B8CD"/>
                </a:solidFill>
              </a:defRPr>
            </a:pPr>
            <a:r>
              <a:t>Selecting databases for Polyglot Persistence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34440"/>
            <a:ext cx="2743200" cy="182880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234440"/>
            <a:ext cx="50292" cy="1828800"/>
          </a:xfrm>
          <a:prstGeom prst="rect">
            <a:avLst/>
          </a:prstGeom>
          <a:solidFill>
            <a:srgbClr val="3EC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353312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F6FC"/>
                </a:solidFill>
              </a:defRPr>
            </a:pPr>
            <a:r>
              <a:t>DATASET /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64792"/>
            <a:ext cx="24231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9B8CD"/>
                </a:solidFill>
              </a:defRPr>
            </a:pPr>
            <a:r>
              <a:t>Three case studies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234440"/>
            <a:ext cx="2514600" cy="182880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234440"/>
            <a:ext cx="50292" cy="1828800"/>
          </a:xfrm>
          <a:prstGeom prst="rect">
            <a:avLst/>
          </a:prstGeom>
          <a:solidFill>
            <a:srgbClr val="3EC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3533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F6FC"/>
                </a:solidFill>
              </a:defRPr>
            </a:pPr>
            <a:r>
              <a:t>METHOD / TECHNIQUE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64792"/>
            <a:ext cx="21945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9B8CD"/>
                </a:solidFill>
              </a:defRPr>
            </a:pPr>
            <a:r>
              <a:t>Requirement-based database selection; data + functional + non-functional requirements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234440"/>
            <a:ext cx="2514600" cy="182880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1234440"/>
            <a:ext cx="50292" cy="1828800"/>
          </a:xfrm>
          <a:prstGeom prst="rect">
            <a:avLst/>
          </a:prstGeom>
          <a:solidFill>
            <a:srgbClr val="3EC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59" y="13533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F6FC"/>
                </a:solidFill>
              </a:defRPr>
            </a:pPr>
            <a:r>
              <a:t>MAJOR FINDING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1764792"/>
            <a:ext cx="21945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>
                <a:solidFill>
                  <a:srgbClr val="A9B8CD"/>
                </a:solidFill>
              </a:defRPr>
            </a:pPr>
            <a:r>
              <a:t>Shows structured DB selection is preferable to trend/experience-based choice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5394960" cy="192024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337560"/>
            <a:ext cx="50292" cy="1920240"/>
          </a:xfrm>
          <a:prstGeom prst="rect">
            <a:avLst/>
          </a:prstGeom>
          <a:solidFill>
            <a:srgbClr val="3EC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56432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STRENGTH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67911"/>
            <a:ext cx="50749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B8CD"/>
                </a:solidFill>
              </a:defRPr>
            </a:pPr>
            <a:r>
              <a:t>Systematic workload-driven DB selection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337560"/>
            <a:ext cx="5394960" cy="192024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337560"/>
            <a:ext cx="50292" cy="1920240"/>
          </a:xfrm>
          <a:prstGeom prst="rect">
            <a:avLst/>
          </a:prstGeom>
          <a:solidFill>
            <a:srgbClr val="ED6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456432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LIMITATION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867911"/>
            <a:ext cx="50749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B8CD"/>
                </a:solidFill>
              </a:defRPr>
            </a:pPr>
            <a:r>
              <a:t>Not finance-risk specific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86400"/>
            <a:ext cx="11064240" cy="59436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486400"/>
            <a:ext cx="50292" cy="594360"/>
          </a:xfrm>
          <a:prstGeom prst="rect">
            <a:avLst/>
          </a:prstGeom>
          <a:solidFill>
            <a:srgbClr val="3EC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605272"/>
            <a:ext cx="10744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2F6FC"/>
                </a:solidFill>
              </a:defRPr>
            </a:pPr>
            <a:r>
              <a:t>DIRECT RELEVANCE TO OUR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016752"/>
            <a:ext cx="107442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9B8CD"/>
                </a:solidFill>
              </a:defRPr>
            </a:pPr>
            <a:r>
              <a:t>Supports PostgreSQL/MongoDB role assignment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8CD"/>
                </a:solidFill>
              </a:defRPr>
            </a:pPr>
            <a:r>
              <a:t>Financial Risk Analytics with Polyglot Data Engineering  |  Review–2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</a:defRPr>
            </a:pPr>
            <a:r>
              <a:t>4.3 Literature Deep Dive — P3 | Polyglot Persistence Review (2019)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2743200" cy="182880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0292" cy="1828800"/>
          </a:xfrm>
          <a:prstGeom prst="rect">
            <a:avLst/>
          </a:prstGeom>
          <a:solidFill>
            <a:srgbClr val="F4A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F6FC"/>
                </a:solidFill>
              </a:defRPr>
            </a:pPr>
            <a:r>
              <a:t>PROBLEM /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24231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9B8CD"/>
                </a:solidFill>
              </a:defRPr>
            </a:pPr>
            <a:r>
              <a:t>Polyglot persistence in Big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34440"/>
            <a:ext cx="2743200" cy="182880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234440"/>
            <a:ext cx="50292" cy="1828800"/>
          </a:xfrm>
          <a:prstGeom prst="rect">
            <a:avLst/>
          </a:prstGeom>
          <a:solidFill>
            <a:srgbClr val="F4A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353312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F6FC"/>
                </a:solidFill>
              </a:defRPr>
            </a:pPr>
            <a:r>
              <a:t>DATASET /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64792"/>
            <a:ext cx="24231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9B8CD"/>
                </a:solidFill>
              </a:defRPr>
            </a:pPr>
            <a:r>
              <a:t>Survey/review of heterogeneous data environments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234440"/>
            <a:ext cx="2514600" cy="182880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234440"/>
            <a:ext cx="50292" cy="1828800"/>
          </a:xfrm>
          <a:prstGeom prst="rect">
            <a:avLst/>
          </a:prstGeom>
          <a:solidFill>
            <a:srgbClr val="F4A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3533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F6FC"/>
                </a:solidFill>
              </a:defRPr>
            </a:pPr>
            <a:r>
              <a:t>METHOD / TECHNIQUE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64792"/>
            <a:ext cx="21945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9B8CD"/>
                </a:solidFill>
              </a:defRPr>
            </a:pPr>
            <a:r>
              <a:t>Database selection using data model, CAP, performance, reliability, capacity, etc.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234440"/>
            <a:ext cx="2514600" cy="182880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1234440"/>
            <a:ext cx="50292" cy="1828800"/>
          </a:xfrm>
          <a:prstGeom prst="rect">
            <a:avLst/>
          </a:prstGeom>
          <a:solidFill>
            <a:srgbClr val="F4A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59" y="13533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F6FC"/>
                </a:solidFill>
              </a:defRPr>
            </a:pPr>
            <a:r>
              <a:t>MAJOR FINDING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1764792"/>
            <a:ext cx="21945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>
                <a:solidFill>
                  <a:srgbClr val="A9B8CD"/>
                </a:solidFill>
              </a:defRPr>
            </a:pPr>
            <a:r>
              <a:t>NoSQL choices should match application/data characteristics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5394960" cy="192024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337560"/>
            <a:ext cx="50292" cy="1920240"/>
          </a:xfrm>
          <a:prstGeom prst="rect">
            <a:avLst/>
          </a:prstGeom>
          <a:solidFill>
            <a:srgbClr val="F4A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56432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STRENGTH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67911"/>
            <a:ext cx="50749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B8CD"/>
                </a:solidFill>
              </a:defRPr>
            </a:pPr>
            <a:r>
              <a:t>Broad architectural 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337560"/>
            <a:ext cx="5394960" cy="192024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337560"/>
            <a:ext cx="50292" cy="1920240"/>
          </a:xfrm>
          <a:prstGeom prst="rect">
            <a:avLst/>
          </a:prstGeom>
          <a:solidFill>
            <a:srgbClr val="ED6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456432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LIMITATION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867911"/>
            <a:ext cx="50749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B8CD"/>
                </a:solidFill>
              </a:defRPr>
            </a:pPr>
            <a:r>
              <a:t>Not focused on financial-risk workflow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86400"/>
            <a:ext cx="11064240" cy="59436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486400"/>
            <a:ext cx="50292" cy="594360"/>
          </a:xfrm>
          <a:prstGeom prst="rect">
            <a:avLst/>
          </a:prstGeom>
          <a:solidFill>
            <a:srgbClr val="F4A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605272"/>
            <a:ext cx="10744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2F6FC"/>
                </a:solidFill>
              </a:defRPr>
            </a:pPr>
            <a:r>
              <a:t>DIRECT RELEVANCE TO OUR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016752"/>
            <a:ext cx="107442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9B8CD"/>
                </a:solidFill>
              </a:defRPr>
            </a:pPr>
            <a:r>
              <a:t>Supports specialized-store principle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8CD"/>
                </a:solidFill>
              </a:defRPr>
            </a:pPr>
            <a:r>
              <a:t>Financial Risk Analytics with Polyglot Data Engineering  |  Review–2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</a:defRPr>
            </a:pPr>
            <a:r>
              <a:t>4.4 Literature Deep Dive — P4 | Prashanth et al. (2026)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2743200" cy="182880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0292" cy="1828800"/>
          </a:xfrm>
          <a:prstGeom prst="rect">
            <a:avLst/>
          </a:prstGeom>
          <a:solidFill>
            <a:srgbClr val="9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F6FC"/>
                </a:solidFill>
              </a:defRPr>
            </a:pPr>
            <a:r>
              <a:t>PROBLEM /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24231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9B8CD"/>
                </a:solidFill>
              </a:defRPr>
            </a:pPr>
            <a:r>
              <a:t>Bank transaction fraud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34440"/>
            <a:ext cx="2743200" cy="182880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234440"/>
            <a:ext cx="50292" cy="1828800"/>
          </a:xfrm>
          <a:prstGeom prst="rect">
            <a:avLst/>
          </a:prstGeom>
          <a:solidFill>
            <a:srgbClr val="9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353312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F6FC"/>
                </a:solidFill>
              </a:defRPr>
            </a:pPr>
            <a:r>
              <a:t>DATASET /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64792"/>
            <a:ext cx="24231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9B8CD"/>
                </a:solidFill>
              </a:defRPr>
            </a:pPr>
            <a:r>
              <a:t>Kaggle dataset of actual bank transactions in India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234440"/>
            <a:ext cx="2514600" cy="182880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234440"/>
            <a:ext cx="50292" cy="1828800"/>
          </a:xfrm>
          <a:prstGeom prst="rect">
            <a:avLst/>
          </a:prstGeom>
          <a:solidFill>
            <a:srgbClr val="9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3533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F6FC"/>
                </a:solidFill>
              </a:defRPr>
            </a:pPr>
            <a:r>
              <a:t>METHOD / TECHNIQUE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64792"/>
            <a:ext cx="21945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9B8CD"/>
                </a:solidFill>
              </a:defRPr>
            </a:pPr>
            <a:r>
              <a:t>TabNet adaptive deep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234440"/>
            <a:ext cx="2514600" cy="182880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1234440"/>
            <a:ext cx="50292" cy="1828800"/>
          </a:xfrm>
          <a:prstGeom prst="rect">
            <a:avLst/>
          </a:prstGeom>
          <a:solidFill>
            <a:srgbClr val="9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59" y="13533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F6FC"/>
                </a:solidFill>
              </a:defRPr>
            </a:pPr>
            <a:r>
              <a:t>MAJOR FINDING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1764792"/>
            <a:ext cx="21945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>
                <a:solidFill>
                  <a:srgbClr val="A9B8CD"/>
                </a:solidFill>
              </a:defRPr>
            </a:pPr>
            <a:r>
              <a:t>Targets accurate and interpretable transaction anomaly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5394960" cy="192024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337560"/>
            <a:ext cx="50292" cy="1920240"/>
          </a:xfrm>
          <a:prstGeom prst="rect">
            <a:avLst/>
          </a:prstGeom>
          <a:solidFill>
            <a:srgbClr val="9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56432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STRENGTH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67911"/>
            <a:ext cx="50749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B8CD"/>
                </a:solidFill>
              </a:defRPr>
            </a:pPr>
            <a:r>
              <a:t>Modern + interpretable transaction-level model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337560"/>
            <a:ext cx="5394960" cy="192024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337560"/>
            <a:ext cx="50292" cy="1920240"/>
          </a:xfrm>
          <a:prstGeom prst="rect">
            <a:avLst/>
          </a:prstGeom>
          <a:solidFill>
            <a:srgbClr val="ED6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456432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LIMITATION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867911"/>
            <a:ext cx="50749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B8CD"/>
                </a:solidFill>
              </a:defRPr>
            </a:pPr>
            <a:r>
              <a:t>Model-centric; storage architecture not central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86400"/>
            <a:ext cx="11064240" cy="59436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486400"/>
            <a:ext cx="50292" cy="594360"/>
          </a:xfrm>
          <a:prstGeom prst="rect">
            <a:avLst/>
          </a:prstGeom>
          <a:solidFill>
            <a:srgbClr val="9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605272"/>
            <a:ext cx="10744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2F6FC"/>
                </a:solidFill>
              </a:defRPr>
            </a:pPr>
            <a:r>
              <a:t>DIRECT RELEVANCE TO OUR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016752"/>
            <a:ext cx="107442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9B8CD"/>
                </a:solidFill>
              </a:defRPr>
            </a:pPr>
            <a:r>
              <a:t>Supports interpretable risk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8CD"/>
                </a:solidFill>
              </a:defRPr>
            </a:pPr>
            <a:r>
              <a:t>Financial Risk Analytics with Polyglot Data Engineering  |  Review–2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</a:defRPr>
            </a:pPr>
            <a:r>
              <a:t>5. Supporting Literature — Broader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8CD"/>
                </a:solidFill>
              </a:defRPr>
            </a:pPr>
            <a:r>
              <a:t>These reviews strengthen the critical analysis by identifying recurring real-world limitations.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3520440" cy="452628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50292" cy="4526280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99031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SYSTEMATIC REVIEW —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3200400" cy="390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9B8CD"/>
                </a:solidFill>
              </a:defRPr>
            </a:pPr>
            <a:r>
              <a:t>Credit-card fraud literature under original class imbalance reports:</a:t>
            </a:r>
            <a:br/>
            <a:br/>
            <a:r>
              <a:t>• Heavy dependence on benchmark datasets</a:t>
            </a:r>
            <a:br/>
            <a:r>
              <a:t>• Strong use of tree ensembles</a:t>
            </a:r>
            <a:br/>
            <a:r>
              <a:t>• AUC-PR is underused despite skewed data</a:t>
            </a:r>
            <a:br/>
            <a:r>
              <a:t>• Operational XAI such as SHAP remains rare</a:t>
            </a:r>
            <a:br/>
            <a:br/>
            <a:r>
              <a:t>Lesson: evaluation must reflect real imbalance and explainability.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520440" cy="452628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50292" cy="4526280"/>
          </a:xfrm>
          <a:prstGeom prst="rect">
            <a:avLst/>
          </a:prstGeom>
          <a:solidFill>
            <a:srgbClr val="3EC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99031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SYSTEMATIC REVIEW —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10512"/>
            <a:ext cx="3200400" cy="390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9B8CD"/>
                </a:solidFill>
              </a:defRPr>
            </a:pPr>
            <a:r>
              <a:t>Financial fraud research continues to report:</a:t>
            </a:r>
            <a:br/>
            <a:br/>
            <a:r>
              <a:t>• Severe class imbalance</a:t>
            </a:r>
            <a:br/>
            <a:r>
              <a:t>• Concept drift</a:t>
            </a:r>
            <a:br/>
            <a:r>
              <a:t>• Limited labelled data</a:t>
            </a:r>
            <a:br/>
            <a:r>
              <a:t>• Performance vs interpretability trade-offs</a:t>
            </a:r>
            <a:br/>
            <a:br/>
            <a:r>
              <a:t>Lesson: a practical system needs more than a high accuracy score.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80160"/>
            <a:ext cx="3520440" cy="452628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80160"/>
            <a:ext cx="50292" cy="4526280"/>
          </a:xfrm>
          <a:prstGeom prst="rect">
            <a:avLst/>
          </a:prstGeom>
          <a:solidFill>
            <a:srgbClr val="9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399031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XAI REVIEW —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810512"/>
            <a:ext cx="3200400" cy="390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9B8CD"/>
                </a:solidFill>
              </a:defRPr>
            </a:pPr>
            <a:r>
              <a:t>Finance applications increasingly require:</a:t>
            </a:r>
            <a:br/>
            <a:br/>
            <a:r>
              <a:t>• Transparency</a:t>
            </a:r>
            <a:br/>
            <a:r>
              <a:t>• Trust</a:t>
            </a:r>
            <a:br/>
            <a:r>
              <a:t>• Regulatory compliance</a:t>
            </a:r>
            <a:br/>
            <a:r>
              <a:t>• Model-agnostic explanations</a:t>
            </a:r>
            <a:br/>
            <a:br/>
            <a:r>
              <a:t>Lesson: risk outputs should be understandable to analysts, not only technically accurate.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8CD"/>
                </a:solidFill>
              </a:defRPr>
            </a:pPr>
            <a:r>
              <a:t>Financial Risk Analytics with Polyglot Data Engineering  |  Review–2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</a:defRPr>
            </a:pPr>
            <a:r>
              <a:t>6. Literature Review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8CD"/>
                </a:solidFill>
              </a:defRPr>
            </a:pPr>
            <a:r>
              <a:t>This table demonstrates comparison and synthesis rather than isolated paper summaries.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645920" cy="475488"/>
          </a:xfrm>
          <a:prstGeom prst="rect">
            <a:avLst/>
          </a:prstGeom>
          <a:solidFill>
            <a:srgbClr val="41A9F5"/>
          </a:solidFill>
          <a:ln>
            <a:solidFill>
              <a:srgbClr val="091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2F6FC"/>
                </a:solidFill>
              </a:defRPr>
            </a:pPr>
            <a:r>
              <a:t>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1965960" y="1234440"/>
            <a:ext cx="2057400" cy="475488"/>
          </a:xfrm>
          <a:prstGeom prst="rect">
            <a:avLst/>
          </a:prstGeom>
          <a:solidFill>
            <a:srgbClr val="41A9F5"/>
          </a:solidFill>
          <a:ln>
            <a:solidFill>
              <a:srgbClr val="091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2F6FC"/>
                </a:solidFill>
              </a:defRPr>
            </a:pPr>
            <a:r>
              <a:t>Problem /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59" y="1234440"/>
            <a:ext cx="1737360" cy="475488"/>
          </a:xfrm>
          <a:prstGeom prst="rect">
            <a:avLst/>
          </a:prstGeom>
          <a:solidFill>
            <a:srgbClr val="41A9F5"/>
          </a:solidFill>
          <a:ln>
            <a:solidFill>
              <a:srgbClr val="091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2F6FC"/>
                </a:solidFill>
              </a:defRPr>
            </a:pPr>
            <a:r>
              <a:t>Technique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234440"/>
            <a:ext cx="2194560" cy="475488"/>
          </a:xfrm>
          <a:prstGeom prst="rect">
            <a:avLst/>
          </a:prstGeom>
          <a:solidFill>
            <a:srgbClr val="41A9F5"/>
          </a:solidFill>
          <a:ln>
            <a:solidFill>
              <a:srgbClr val="091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2F6FC"/>
                </a:solidFill>
              </a:defRPr>
            </a:pPr>
            <a:r>
              <a:t>Key finding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1234440"/>
            <a:ext cx="2103120" cy="475488"/>
          </a:xfrm>
          <a:prstGeom prst="rect">
            <a:avLst/>
          </a:prstGeom>
          <a:solidFill>
            <a:srgbClr val="41A9F5"/>
          </a:solidFill>
          <a:ln>
            <a:solidFill>
              <a:srgbClr val="091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2F6FC"/>
                </a:solidFill>
              </a:defRPr>
            </a:pPr>
            <a:r>
              <a:t>Limitation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0" y="1234440"/>
            <a:ext cx="2148840" cy="475488"/>
          </a:xfrm>
          <a:prstGeom prst="rect">
            <a:avLst/>
          </a:prstGeom>
          <a:solidFill>
            <a:srgbClr val="41A9F5"/>
          </a:solidFill>
          <a:ln>
            <a:solidFill>
              <a:srgbClr val="091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2F6FC"/>
                </a:solidFill>
              </a:defRPr>
            </a:pPr>
            <a:r>
              <a:t>Our takeaway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09928"/>
            <a:ext cx="1645920" cy="758952"/>
          </a:xfrm>
          <a:prstGeom prst="rect">
            <a:avLst/>
          </a:prstGeom>
          <a:solidFill>
            <a:srgbClr val="141F31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F2F6FC"/>
                </a:solidFill>
              </a:defRPr>
            </a:pPr>
            <a:r>
              <a:t>Murugan &amp; Kala 2023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1709928"/>
            <a:ext cx="2057400" cy="758952"/>
          </a:xfrm>
          <a:prstGeom prst="rect">
            <a:avLst/>
          </a:prstGeom>
          <a:solidFill>
            <a:srgbClr val="141F31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Large-scale financial risk; confidential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59" y="1709928"/>
            <a:ext cx="1737360" cy="758952"/>
          </a:xfrm>
          <a:prstGeom prst="rect">
            <a:avLst/>
          </a:prstGeom>
          <a:solidFill>
            <a:srgbClr val="141F31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KNN, LR, XGBoost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709928"/>
            <a:ext cx="2194560" cy="758952"/>
          </a:xfrm>
          <a:prstGeom prst="rect">
            <a:avLst/>
          </a:prstGeom>
          <a:solidFill>
            <a:srgbClr val="141F31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ML supports risk prediction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709928"/>
            <a:ext cx="2103120" cy="758952"/>
          </a:xfrm>
          <a:prstGeom prst="rect">
            <a:avLst/>
          </a:prstGeom>
          <a:solidFill>
            <a:srgbClr val="141F31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Data confidential; architecture not central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1709928"/>
            <a:ext cx="2148840" cy="758952"/>
          </a:xfrm>
          <a:prstGeom prst="rect">
            <a:avLst/>
          </a:prstGeom>
          <a:solidFill>
            <a:srgbClr val="141F31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Analytics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68880"/>
            <a:ext cx="1645920" cy="758952"/>
          </a:xfrm>
          <a:prstGeom prst="rect">
            <a:avLst/>
          </a:prstGeom>
          <a:solidFill>
            <a:srgbClr val="1A273C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F2F6FC"/>
                </a:solidFill>
              </a:defRPr>
            </a:pPr>
            <a:r>
              <a:t>Roy-Hubara et al. 2022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2468880"/>
            <a:ext cx="2057400" cy="758952"/>
          </a:xfrm>
          <a:prstGeom prst="rect">
            <a:avLst/>
          </a:prstGeom>
          <a:solidFill>
            <a:srgbClr val="1A273C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DB selection; 3 case studies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59" y="2468880"/>
            <a:ext cx="1737360" cy="758952"/>
          </a:xfrm>
          <a:prstGeom prst="rect">
            <a:avLst/>
          </a:prstGeom>
          <a:solidFill>
            <a:srgbClr val="1A273C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Requirement-based selection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2468880"/>
            <a:ext cx="2194560" cy="758952"/>
          </a:xfrm>
          <a:prstGeom prst="rect">
            <a:avLst/>
          </a:prstGeom>
          <a:solidFill>
            <a:srgbClr val="1A273C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Workload requirements should drive DB choice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468880"/>
            <a:ext cx="2103120" cy="758952"/>
          </a:xfrm>
          <a:prstGeom prst="rect">
            <a:avLst/>
          </a:prstGeom>
          <a:solidFill>
            <a:srgbClr val="1A273C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Not finance-specific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0" y="2468880"/>
            <a:ext cx="2148840" cy="758952"/>
          </a:xfrm>
          <a:prstGeom prst="rect">
            <a:avLst/>
          </a:prstGeom>
          <a:solidFill>
            <a:srgbClr val="1A273C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DB role mapping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227832"/>
            <a:ext cx="1645920" cy="758952"/>
          </a:xfrm>
          <a:prstGeom prst="rect">
            <a:avLst/>
          </a:prstGeom>
          <a:solidFill>
            <a:srgbClr val="141F31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F2F6FC"/>
                </a:solidFill>
              </a:defRPr>
            </a:pPr>
            <a:r>
              <a:t>Polyglot review 2019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65960" y="3227832"/>
            <a:ext cx="2057400" cy="758952"/>
          </a:xfrm>
          <a:prstGeom prst="rect">
            <a:avLst/>
          </a:prstGeom>
          <a:solidFill>
            <a:srgbClr val="141F31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Heterogeneous big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59" y="3227832"/>
            <a:ext cx="1737360" cy="758952"/>
          </a:xfrm>
          <a:prstGeom prst="rect">
            <a:avLst/>
          </a:prstGeom>
          <a:solidFill>
            <a:srgbClr val="141F31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Polyglot persistence criteria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3227832"/>
            <a:ext cx="2194560" cy="758952"/>
          </a:xfrm>
          <a:prstGeom prst="rect">
            <a:avLst/>
          </a:prstGeom>
          <a:solidFill>
            <a:srgbClr val="141F31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Specialized DBs suit different workloads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3227832"/>
            <a:ext cx="2103120" cy="758952"/>
          </a:xfrm>
          <a:prstGeom prst="rect">
            <a:avLst/>
          </a:prstGeom>
          <a:solidFill>
            <a:srgbClr val="141F31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Broad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3227832"/>
            <a:ext cx="2148840" cy="758952"/>
          </a:xfrm>
          <a:prstGeom prst="rect">
            <a:avLst/>
          </a:prstGeom>
          <a:solidFill>
            <a:srgbClr val="141F31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Specialized storage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86783"/>
            <a:ext cx="1645920" cy="758952"/>
          </a:xfrm>
          <a:prstGeom prst="rect">
            <a:avLst/>
          </a:prstGeom>
          <a:solidFill>
            <a:srgbClr val="1A273C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F2F6FC"/>
                </a:solidFill>
              </a:defRPr>
            </a:pPr>
            <a:r>
              <a:t>Prashanth et al. 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65960" y="3986783"/>
            <a:ext cx="2057400" cy="758952"/>
          </a:xfrm>
          <a:prstGeom prst="rect">
            <a:avLst/>
          </a:prstGeom>
          <a:solidFill>
            <a:srgbClr val="1A273C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Indian bank transactions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59" y="3986783"/>
            <a:ext cx="1737360" cy="758952"/>
          </a:xfrm>
          <a:prstGeom prst="rect">
            <a:avLst/>
          </a:prstGeom>
          <a:solidFill>
            <a:srgbClr val="1A273C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TabNet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3986783"/>
            <a:ext cx="2194560" cy="758952"/>
          </a:xfrm>
          <a:prstGeom prst="rect">
            <a:avLst/>
          </a:prstGeom>
          <a:solidFill>
            <a:srgbClr val="1A273C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Interpretable transaction fraud prediction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3986783"/>
            <a:ext cx="2103120" cy="758952"/>
          </a:xfrm>
          <a:prstGeom prst="rect">
            <a:avLst/>
          </a:prstGeom>
          <a:solidFill>
            <a:srgbClr val="1A273C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Model-centric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0" y="3986783"/>
            <a:ext cx="2148840" cy="758952"/>
          </a:xfrm>
          <a:prstGeom prst="rect">
            <a:avLst/>
          </a:prstGeom>
          <a:solidFill>
            <a:srgbClr val="1A273C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Risk scoring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745736"/>
            <a:ext cx="1645920" cy="758952"/>
          </a:xfrm>
          <a:prstGeom prst="rect">
            <a:avLst/>
          </a:prstGeom>
          <a:solidFill>
            <a:srgbClr val="141F31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F2F6FC"/>
                </a:solidFill>
              </a:defRPr>
            </a:pPr>
            <a:r>
              <a:t>Fraud SLR 2025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65960" y="4745736"/>
            <a:ext cx="2057400" cy="758952"/>
          </a:xfrm>
          <a:prstGeom prst="rect">
            <a:avLst/>
          </a:prstGeom>
          <a:solidFill>
            <a:srgbClr val="141F31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Original class-imbalanced fraud datasets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23359" y="4745736"/>
            <a:ext cx="1737360" cy="758952"/>
          </a:xfrm>
          <a:prstGeom prst="rect">
            <a:avLst/>
          </a:prstGeom>
          <a:solidFill>
            <a:srgbClr val="141F31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ML + XAI synthesis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0" y="4745736"/>
            <a:ext cx="2194560" cy="758952"/>
          </a:xfrm>
          <a:prstGeom prst="rect">
            <a:avLst/>
          </a:prstGeom>
          <a:solidFill>
            <a:srgbClr val="141F31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AUC-PR/XAI underused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79" y="4745736"/>
            <a:ext cx="2103120" cy="758952"/>
          </a:xfrm>
          <a:prstGeom prst="rect">
            <a:avLst/>
          </a:prstGeom>
          <a:solidFill>
            <a:srgbClr val="141F31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Benchmark dependence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0" y="4745736"/>
            <a:ext cx="2148840" cy="758952"/>
          </a:xfrm>
          <a:prstGeom prst="rect">
            <a:avLst/>
          </a:prstGeom>
          <a:solidFill>
            <a:srgbClr val="141F31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Better evaluation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504688"/>
            <a:ext cx="1645920" cy="758952"/>
          </a:xfrm>
          <a:prstGeom prst="rect">
            <a:avLst/>
          </a:prstGeom>
          <a:solidFill>
            <a:srgbClr val="1A273C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F2F6FC"/>
                </a:solidFill>
              </a:defRPr>
            </a:pPr>
            <a:r>
              <a:t>DL SLR 2026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65960" y="5504688"/>
            <a:ext cx="2057400" cy="758952"/>
          </a:xfrm>
          <a:prstGeom prst="rect">
            <a:avLst/>
          </a:prstGeom>
          <a:solidFill>
            <a:srgbClr val="1A273C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108 DL fraud studies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23359" y="5504688"/>
            <a:ext cx="1737360" cy="758952"/>
          </a:xfrm>
          <a:prstGeom prst="rect">
            <a:avLst/>
          </a:prstGeom>
          <a:solidFill>
            <a:srgbClr val="1A273C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CNN/LSTM/Transformers/ensembles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0720" y="5504688"/>
            <a:ext cx="2194560" cy="758952"/>
          </a:xfrm>
          <a:prstGeom prst="rect">
            <a:avLst/>
          </a:prstGeom>
          <a:solidFill>
            <a:srgbClr val="1A273C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Imbalance, explainability, privacy remain issues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55279" y="5504688"/>
            <a:ext cx="2103120" cy="758952"/>
          </a:xfrm>
          <a:prstGeom prst="rect">
            <a:avLst/>
          </a:prstGeom>
          <a:solidFill>
            <a:srgbClr val="1A273C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Cross-domain scope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58400" y="5504688"/>
            <a:ext cx="2148840" cy="758952"/>
          </a:xfrm>
          <a:prstGeom prst="rect">
            <a:avLst/>
          </a:prstGeom>
          <a:solidFill>
            <a:srgbClr val="1A273C"/>
          </a:solidFill>
          <a:ln>
            <a:solidFill>
              <a:srgbClr val="2B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819">
                <a:solidFill>
                  <a:srgbClr val="A9B8CD"/>
                </a:solidFill>
              </a:defRPr>
            </a:pPr>
            <a:r>
              <a:t>Trust + scalability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8CD"/>
                </a:solidFill>
              </a:defRPr>
            </a:pPr>
            <a:r>
              <a:t>Financial Risk Analytics with Polyglot Data Engineering  |  Review–2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</a:defRPr>
            </a:pPr>
            <a:r>
              <a:t>7. Critical Analysis — Similarities, Differences, Strengths &amp;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3520440" cy="452628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80160"/>
            <a:ext cx="50292" cy="4526280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99031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SIMILARITIES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3200400" cy="390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B8CD"/>
                </a:solidFill>
              </a:defRPr>
            </a:pPr>
            <a:r>
              <a:t>• Data-driven decision support</a:t>
            </a:r>
            <a:br/>
            <a:r>
              <a:t>• Strong dependence on data quality</a:t>
            </a:r>
            <a:br/>
            <a:r>
              <a:t>• Scalability matters</a:t>
            </a:r>
            <a:br/>
            <a:r>
              <a:t>• Evaluation must match the application</a:t>
            </a:r>
            <a:br/>
            <a:r>
              <a:t>• Financial systems require trust and reliability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80160"/>
            <a:ext cx="3520440" cy="452628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280160"/>
            <a:ext cx="50292" cy="4526280"/>
          </a:xfrm>
          <a:prstGeom prst="rect">
            <a:avLst/>
          </a:prstGeom>
          <a:solidFill>
            <a:srgbClr val="3EC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399031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DIFFERENCES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810512"/>
            <a:ext cx="3200400" cy="390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B8CD"/>
                </a:solidFill>
              </a:defRPr>
            </a:pPr>
            <a:r>
              <a:t>Risk papers → prediction/model performance</a:t>
            </a:r>
            <a:br/>
            <a:br/>
            <a:r>
              <a:t>Polyglot papers → storage/workload fit</a:t>
            </a:r>
            <a:br/>
            <a:br/>
            <a:r>
              <a:t>XAI papers → transparency</a:t>
            </a:r>
            <a:br/>
            <a:br/>
            <a:r>
              <a:t>Our project → combines these dimensions into one DBMS-centered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520440" cy="452628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50292" cy="4526280"/>
          </a:xfrm>
          <a:prstGeom prst="rect">
            <a:avLst/>
          </a:prstGeom>
          <a:solidFill>
            <a:srgbClr val="9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399031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OVERALL CRITIQUE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810512"/>
            <a:ext cx="3200400" cy="390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B8CD"/>
                </a:solidFill>
              </a:defRPr>
            </a:pPr>
            <a:r>
              <a:t>Existing work is strong within individual layers, but fragmented across layers.</a:t>
            </a:r>
            <a:br/>
            <a:br/>
            <a:r>
              <a:t>Research often evaluates a model OR an architecture, not the complete path from transaction data → storage → risk feature → secure API → report.</a:t>
            </a:r>
            <a:br/>
            <a:br/>
            <a:r>
              <a:t>This is where our project is positioned.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8CD"/>
                </a:solidFill>
              </a:defRPr>
            </a:pPr>
            <a:r>
              <a:t>Financial Risk Analytics with Polyglot Data Engineering  |  Review–2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</a:defRPr>
            </a:pPr>
            <a:r>
              <a:t>8. Literature Synthesis — What We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8CD"/>
                </a:solidFill>
              </a:defRPr>
            </a:pPr>
            <a:r>
              <a:t>The literature changes how we design the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606040" cy="443484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50292" cy="4434840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LESSON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56231"/>
            <a:ext cx="228600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B8CD"/>
                </a:solidFill>
              </a:defRPr>
            </a:pPr>
            <a:r>
              <a:t>Risk analytics cannot rely on accuracy alone.</a:t>
            </a:r>
            <a:br/>
            <a:br/>
            <a:r>
              <a:t>Use imbalance-aware metrics and consider false positives/false negatives.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25880"/>
            <a:ext cx="2606040" cy="443484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25880"/>
            <a:ext cx="50292" cy="4434840"/>
          </a:xfrm>
          <a:prstGeom prst="rect">
            <a:avLst/>
          </a:prstGeom>
          <a:solidFill>
            <a:srgbClr val="3EC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44752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LESSON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56231"/>
            <a:ext cx="228600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B8CD"/>
                </a:solidFill>
              </a:defRPr>
            </a:pPr>
            <a:r>
              <a:t>Database choice should follow workload and requirements.</a:t>
            </a:r>
            <a:br/>
            <a:br/>
            <a:r>
              <a:t>Polyglot persistence is justified only when different stores solve different needs.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2606040" cy="443484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325880"/>
            <a:ext cx="50292" cy="4434840"/>
          </a:xfrm>
          <a:prstGeom prst="rect">
            <a:avLst/>
          </a:prstGeom>
          <a:solidFill>
            <a:srgbClr val="F4A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444752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LESSON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856231"/>
            <a:ext cx="228600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B8CD"/>
                </a:solidFill>
              </a:defRPr>
            </a:pPr>
            <a:r>
              <a:t>Financial AI needs trust.</a:t>
            </a:r>
            <a:br/>
            <a:br/>
            <a:r>
              <a:t>Interpretability, security, auditability and compliance matter alongside prediction.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325880"/>
            <a:ext cx="2606040" cy="443484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325880"/>
            <a:ext cx="50292" cy="4434840"/>
          </a:xfrm>
          <a:prstGeom prst="rect">
            <a:avLst/>
          </a:prstGeom>
          <a:solidFill>
            <a:srgbClr val="9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444752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LESSON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856231"/>
            <a:ext cx="228600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B8CD"/>
                </a:solidFill>
              </a:defRPr>
            </a:pPr>
            <a:r>
              <a:t>The layers must connect.</a:t>
            </a:r>
            <a:br/>
            <a:br/>
            <a:r>
              <a:t>Data engineering should make risk analytics reliable, traceable and usable.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8CD"/>
                </a:solidFill>
              </a:defRPr>
            </a:pPr>
            <a:r>
              <a:t>Financial Risk Analytics with Polyglot Data Engineering  |  Review–2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</a:defRPr>
            </a:pPr>
            <a:r>
              <a:t>9. Research 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8CD"/>
                </a:solidFill>
              </a:defRPr>
            </a:pPr>
            <a:r>
              <a:t>The gap is not 'nobody has studied fraud or databases'; it is the missing integration and evaluation perspective.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520440" cy="457200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0292" cy="4572000"/>
          </a:xfrm>
          <a:prstGeom prst="rect">
            <a:avLst/>
          </a:prstGeom>
          <a:solidFill>
            <a:srgbClr val="ED6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99031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F6FC"/>
                </a:solidFill>
              </a:defRPr>
            </a:pPr>
            <a:r>
              <a:t>GAP 1 — FRAGMENTATION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10512"/>
            <a:ext cx="320040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9B8CD"/>
                </a:solidFill>
              </a:defRPr>
            </a:pPr>
            <a:r>
              <a:t>Financial-risk literature focuses mainly on prediction.</a:t>
            </a:r>
            <a:br/>
            <a:br/>
            <a:r>
              <a:t>Polyglot literature focuses mainly on data storage and architecture.</a:t>
            </a:r>
            <a:br/>
            <a:br/>
            <a:r>
              <a:t>→ Few works connect both around a financial-risk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520440" cy="457200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50292" cy="4572000"/>
          </a:xfrm>
          <a:prstGeom prst="rect">
            <a:avLst/>
          </a:prstGeom>
          <a:solidFill>
            <a:srgbClr val="F4A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99031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F6FC"/>
                </a:solidFill>
              </a:defRPr>
            </a:pPr>
            <a:r>
              <a:t>GAP 2 — FINANCIAL WORKLOAD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10512"/>
            <a:ext cx="320040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9B8CD"/>
                </a:solidFill>
              </a:defRPr>
            </a:pPr>
            <a:r>
              <a:t>Database-selection research is generally application-generic.</a:t>
            </a:r>
            <a:br/>
            <a:br/>
            <a:r>
              <a:t>It does not directly evaluate PostgreSQL + MongoDB role separation for financial-risk analytics.</a:t>
            </a:r>
            <a:br/>
            <a:br/>
            <a:r>
              <a:t>→ We make the workload mapping explicit.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520440" cy="457200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50292" cy="4572000"/>
          </a:xfrm>
          <a:prstGeom prst="rect">
            <a:avLst/>
          </a:prstGeom>
          <a:solidFill>
            <a:srgbClr val="9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99031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F6FC"/>
                </a:solidFill>
              </a:defRPr>
            </a:pPr>
            <a:r>
              <a:t>GAP 3 — END-TO-END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10512"/>
            <a:ext cx="320040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9B8CD"/>
                </a:solidFill>
              </a:defRPr>
            </a:pPr>
            <a:r>
              <a:t>Fraud research may optimize models; architecture research may optimize storage.</a:t>
            </a:r>
            <a:br/>
            <a:br/>
            <a:r>
              <a:t>But a practical system also needs transaction integrity, JWT security, APIs, auditability and interpretable reporting.</a:t>
            </a:r>
            <a:br/>
            <a:br/>
            <a:r>
              <a:t>→ We integrate these concerns.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8CD"/>
                </a:solidFill>
              </a:defRPr>
            </a:pPr>
            <a:r>
              <a:t>Financial Risk Analytics with Polyglot Data Engineering  |  Review–2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</a:defRPr>
            </a:pPr>
            <a:r>
              <a:t>10. Proposed Contribution — How We Address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8CD"/>
                </a:solidFill>
              </a:defRPr>
            </a:pPr>
            <a:r>
              <a:t>A secure, polyglot financial analytics platform connecting transactional integrity with flexible risk analytics.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520440" cy="1874519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50292" cy="1874519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4475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1. CORE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56231"/>
            <a:ext cx="320040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9B8CD"/>
                </a:solidFill>
              </a:defRPr>
            </a:pPr>
            <a:r>
              <a:t>PostgreSQL</a:t>
            </a:r>
            <a:br/>
            <a:br/>
            <a:r>
              <a:t>ACID + relational integrity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1874519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50292" cy="1874519"/>
          </a:xfrm>
          <a:prstGeom prst="rect">
            <a:avLst/>
          </a:prstGeom>
          <a:solidFill>
            <a:srgbClr val="3EC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4475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2. ANALYTICS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56231"/>
            <a:ext cx="320040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9B8CD"/>
                </a:solidFill>
              </a:defRPr>
            </a:pPr>
            <a:r>
              <a:t>MongoDB</a:t>
            </a:r>
            <a:br/>
            <a:br/>
            <a:r>
              <a:t>Flexible / document-oriented risk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325880"/>
            <a:ext cx="3520440" cy="1874519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325880"/>
            <a:ext cx="50292" cy="1874519"/>
          </a:xfrm>
          <a:prstGeom prst="rect">
            <a:avLst/>
          </a:prstGeom>
          <a:solidFill>
            <a:srgbClr val="F4A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44475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3.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856231"/>
            <a:ext cx="320040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9B8CD"/>
                </a:solidFill>
              </a:defRPr>
            </a:pPr>
            <a:r>
              <a:t>Backend services</a:t>
            </a:r>
            <a:br/>
            <a:br/>
            <a:r>
              <a:t>Validation + transaction workflows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57600"/>
            <a:ext cx="3520440" cy="1874519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657600"/>
            <a:ext cx="50292" cy="1874519"/>
          </a:xfrm>
          <a:prstGeom prst="rect">
            <a:avLst/>
          </a:prstGeom>
          <a:solidFill>
            <a:srgbClr val="9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76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4. RISK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87952"/>
            <a:ext cx="320040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9B8CD"/>
                </a:solidFill>
              </a:defRPr>
            </a:pPr>
            <a:r>
              <a:t>Rules / ML-ready features</a:t>
            </a:r>
            <a:br/>
            <a:br/>
            <a:r>
              <a:t>Risk indicators + evaluation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657600"/>
            <a:ext cx="3520440" cy="1874519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657600"/>
            <a:ext cx="50292" cy="1874519"/>
          </a:xfrm>
          <a:prstGeom prst="rect">
            <a:avLst/>
          </a:prstGeom>
          <a:solidFill>
            <a:srgbClr val="ED6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776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5.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187952"/>
            <a:ext cx="320040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9B8CD"/>
                </a:solidFill>
              </a:defRPr>
            </a:pPr>
            <a:r>
              <a:t>JWT REST APIs</a:t>
            </a:r>
            <a:br/>
            <a:br/>
            <a:r>
              <a:t>Authenticated access + controlled endpoints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657600"/>
            <a:ext cx="3520440" cy="1874519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3657600"/>
            <a:ext cx="50292" cy="1874519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776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6.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187952"/>
            <a:ext cx="320040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9B8CD"/>
                </a:solidFill>
              </a:defRPr>
            </a:pPr>
            <a:r>
              <a:t>Reports / alerts</a:t>
            </a:r>
            <a:br/>
            <a:br/>
            <a:r>
              <a:t>Actionable financial-risk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8CD"/>
                </a:solidFill>
              </a:defRPr>
            </a:pPr>
            <a:r>
              <a:t>Financial Risk Analytics with Polyglot Data Engineering  |  Review–2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</a:defRPr>
            </a:pPr>
            <a:r>
              <a:t>11. Proposed Methodology / System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8CD"/>
                </a:solidFill>
              </a:defRPr>
            </a:pPr>
            <a:r>
              <a:t>The implementation directly follows the gap identified from literature.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828800"/>
            <a:ext cx="1417320" cy="1325880"/>
          </a:xfrm>
          <a:prstGeom prst="roundRect">
            <a:avLst/>
          </a:prstGeom>
          <a:solidFill>
            <a:srgbClr val="141F31"/>
          </a:solidFill>
          <a:ln>
            <a:solidFill>
              <a:srgbClr val="41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2F6FC"/>
                </a:solidFill>
              </a:defRPr>
            </a:pPr>
            <a:r>
              <a:t>DATA SOURCES</a:t>
            </a:r>
          </a:p>
          <a:p>
            <a:pPr algn="ctr">
              <a:defRPr sz="720">
                <a:solidFill>
                  <a:srgbClr val="A9B8CD"/>
                </a:solidFill>
              </a:defRPr>
            </a:pPr>
            <a:r>
              <a:t>Customer • Account • Transaction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02536" y="1828800"/>
            <a:ext cx="1417320" cy="1325880"/>
          </a:xfrm>
          <a:prstGeom prst="roundRect">
            <a:avLst/>
          </a:prstGeom>
          <a:solidFill>
            <a:srgbClr val="141F31"/>
          </a:solidFill>
          <a:ln>
            <a:solidFill>
              <a:srgbClr val="3EC8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2F6FC"/>
                </a:solidFill>
              </a:defRPr>
            </a:pPr>
            <a:r>
              <a:t>VALIDATION</a:t>
            </a:r>
          </a:p>
          <a:p>
            <a:pPr algn="ctr">
              <a:defRPr sz="720">
                <a:solidFill>
                  <a:srgbClr val="A9B8CD"/>
                </a:solidFill>
              </a:defRPr>
            </a:pPr>
            <a:r>
              <a:t>Schema • constraints • transaction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85032" y="1828800"/>
            <a:ext cx="1417320" cy="1325880"/>
          </a:xfrm>
          <a:prstGeom prst="roundRect">
            <a:avLst/>
          </a:prstGeom>
          <a:solidFill>
            <a:srgbClr val="141F31"/>
          </a:solidFill>
          <a:ln>
            <a:solidFill>
              <a:srgbClr val="F4A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2F6FC"/>
                </a:solidFill>
              </a:defRPr>
            </a:pPr>
            <a:r>
              <a:t>POLYGLOT STORAGE</a:t>
            </a:r>
          </a:p>
          <a:p>
            <a:pPr algn="ctr">
              <a:defRPr sz="720">
                <a:solidFill>
                  <a:srgbClr val="A9B8CD"/>
                </a:solidFill>
              </a:defRPr>
            </a:pPr>
            <a:r>
              <a:t>PostgreSQL + MongoDB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67528" y="1828800"/>
            <a:ext cx="1417320" cy="1325880"/>
          </a:xfrm>
          <a:prstGeom prst="roundRect">
            <a:avLst/>
          </a:prstGeom>
          <a:solidFill>
            <a:srgbClr val="141F31"/>
          </a:solidFill>
          <a:ln>
            <a:solidFill>
              <a:srgbClr val="9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2F6FC"/>
                </a:solidFill>
              </a:defRPr>
            </a:pPr>
            <a:r>
              <a:t>FEATURE LAYER</a:t>
            </a:r>
          </a:p>
          <a:p>
            <a:pPr algn="ctr">
              <a:defRPr sz="720">
                <a:solidFill>
                  <a:srgbClr val="A9B8CD"/>
                </a:solidFill>
              </a:defRPr>
            </a:pPr>
            <a:r>
              <a:t>Aggregates • transaction patterns • risk signals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50024" y="1828800"/>
            <a:ext cx="1417320" cy="1325880"/>
          </a:xfrm>
          <a:prstGeom prst="roundRect">
            <a:avLst/>
          </a:prstGeom>
          <a:solidFill>
            <a:srgbClr val="141F31"/>
          </a:solidFill>
          <a:ln>
            <a:solidFill>
              <a:srgbClr val="ED6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2F6FC"/>
                </a:solidFill>
              </a:defRPr>
            </a:pPr>
            <a:r>
              <a:t>ANALYTICS</a:t>
            </a:r>
          </a:p>
          <a:p>
            <a:pPr algn="ctr">
              <a:defRPr sz="720">
                <a:solidFill>
                  <a:srgbClr val="A9B8CD"/>
                </a:solidFill>
              </a:defRPr>
            </a:pPr>
            <a:r>
              <a:t>Risk rules / ML 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1828800"/>
            <a:ext cx="1417320" cy="1325880"/>
          </a:xfrm>
          <a:prstGeom prst="roundRect">
            <a:avLst/>
          </a:prstGeom>
          <a:solidFill>
            <a:srgbClr val="141F31"/>
          </a:solidFill>
          <a:ln>
            <a:solidFill>
              <a:srgbClr val="41A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2F6FC"/>
                </a:solidFill>
              </a:defRPr>
            </a:pPr>
            <a:r>
              <a:t>SECURE API</a:t>
            </a:r>
          </a:p>
          <a:p>
            <a:pPr algn="ctr">
              <a:defRPr sz="720">
                <a:solidFill>
                  <a:srgbClr val="A9B8CD"/>
                </a:solidFill>
              </a:defRPr>
            </a:pPr>
            <a:r>
              <a:t>JWT + REST endpoints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15016" y="1828800"/>
            <a:ext cx="1417320" cy="1325880"/>
          </a:xfrm>
          <a:prstGeom prst="roundRect">
            <a:avLst/>
          </a:prstGeom>
          <a:solidFill>
            <a:srgbClr val="141F31"/>
          </a:solidFill>
          <a:ln>
            <a:solidFill>
              <a:srgbClr val="3EC8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2F6FC"/>
                </a:solidFill>
              </a:defRPr>
            </a:pPr>
            <a:r>
              <a:t>REPORTING</a:t>
            </a:r>
          </a:p>
          <a:p>
            <a:pPr algn="ctr">
              <a:defRPr sz="720">
                <a:solidFill>
                  <a:srgbClr val="A9B8CD"/>
                </a:solidFill>
              </a:defRPr>
            </a:pPr>
            <a:r>
              <a:t>Risk summaries • alerts • dashboards</a:t>
            </a:r>
          </a:p>
        </p:txBody>
      </p:sp>
      <p:sp>
        <p:nvSpPr>
          <p:cNvPr id="12" name="Chevron 11"/>
          <p:cNvSpPr/>
          <p:nvPr/>
        </p:nvSpPr>
        <p:spPr>
          <a:xfrm>
            <a:off x="1755648" y="2267712"/>
            <a:ext cx="228600" cy="365760"/>
          </a:xfrm>
          <a:prstGeom prst="chevron">
            <a:avLst/>
          </a:prstGeom>
          <a:solidFill>
            <a:srgbClr val="A9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3438144" y="2267712"/>
            <a:ext cx="228600" cy="365760"/>
          </a:xfrm>
          <a:prstGeom prst="chevron">
            <a:avLst/>
          </a:prstGeom>
          <a:solidFill>
            <a:srgbClr val="A9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5120640" y="2267712"/>
            <a:ext cx="228600" cy="365760"/>
          </a:xfrm>
          <a:prstGeom prst="chevron">
            <a:avLst/>
          </a:prstGeom>
          <a:solidFill>
            <a:srgbClr val="A9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6803136" y="2267712"/>
            <a:ext cx="228600" cy="365760"/>
          </a:xfrm>
          <a:prstGeom prst="chevron">
            <a:avLst/>
          </a:prstGeom>
          <a:solidFill>
            <a:srgbClr val="A9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8485632" y="2267712"/>
            <a:ext cx="228600" cy="365760"/>
          </a:xfrm>
          <a:prstGeom prst="chevron">
            <a:avLst/>
          </a:prstGeom>
          <a:solidFill>
            <a:srgbClr val="A9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10168128" y="2267712"/>
            <a:ext cx="228600" cy="365760"/>
          </a:xfrm>
          <a:prstGeom prst="chevron">
            <a:avLst/>
          </a:prstGeom>
          <a:solidFill>
            <a:srgbClr val="A9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840480"/>
            <a:ext cx="3429000" cy="141732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840480"/>
            <a:ext cx="50292" cy="1417320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95935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F6FC"/>
                </a:solidFill>
              </a:defRPr>
            </a:pPr>
            <a:r>
              <a:t>DBMS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370832"/>
            <a:ext cx="31089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9B8CD"/>
                </a:solidFill>
              </a:defRPr>
            </a:pPr>
            <a:r>
              <a:t>PostgreSQL is the source of truth for structured banking records and transactional consistency.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840480"/>
            <a:ext cx="3429000" cy="141732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840480"/>
            <a:ext cx="50292" cy="1417320"/>
          </a:xfrm>
          <a:prstGeom prst="rect">
            <a:avLst/>
          </a:prstGeom>
          <a:solidFill>
            <a:srgbClr val="3EC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95935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F6FC"/>
                </a:solidFill>
              </a:defRPr>
            </a:pPr>
            <a:r>
              <a:t>POLYGLOT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370832"/>
            <a:ext cx="31089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9B8CD"/>
                </a:solidFill>
              </a:defRPr>
            </a:pPr>
            <a:r>
              <a:t>MongoDB supports flexible, document-oriented analytics data where schema evolution is useful.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840480"/>
            <a:ext cx="3429000" cy="141732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840480"/>
            <a:ext cx="50292" cy="1417320"/>
          </a:xfrm>
          <a:prstGeom prst="rect">
            <a:avLst/>
          </a:prstGeom>
          <a:solidFill>
            <a:srgbClr val="9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95935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F6FC"/>
                </a:solidFill>
              </a:defRPr>
            </a:pPr>
            <a:r>
              <a:t>ANALYTICS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370832"/>
            <a:ext cx="31089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9B8CD"/>
                </a:solidFill>
              </a:defRPr>
            </a:pPr>
            <a:r>
              <a:t>Risk evaluation uses appropriate metrics and interpretable outputs rather than accuracy alone.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8CD"/>
                </a:solidFill>
              </a:defRPr>
            </a:pPr>
            <a:r>
              <a:t>Financial Risk Analytics with Polyglot Data Engineering  |  Review–2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</a:defRPr>
            </a:pPr>
            <a:r>
              <a:t>12. Evaluation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8CD"/>
                </a:solidFill>
              </a:defRPr>
            </a:pPr>
            <a:r>
              <a:t>The project will be evaluated at both DBMS/system level and analytics level.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74720" cy="438912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50292" cy="4389120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DATABASE /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56231"/>
            <a:ext cx="3154679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B8CD"/>
                </a:solidFill>
              </a:defRPr>
            </a:pPr>
            <a:r>
              <a:t>• Data integrity</a:t>
            </a:r>
            <a:br/>
            <a:r>
              <a:t>• CRUD correctness</a:t>
            </a:r>
            <a:br/>
            <a:r>
              <a:t>• Transaction consistency</a:t>
            </a:r>
            <a:br/>
            <a:r>
              <a:t>• API response behavior</a:t>
            </a:r>
            <a:br/>
            <a:r>
              <a:t>• PostgreSQL/MongoDB integration</a:t>
            </a:r>
            <a:br/>
            <a:r>
              <a:t>• Error handling</a:t>
            </a:r>
            <a:br/>
            <a:r>
              <a:t>• Authentication / authorization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438912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50292" cy="4389120"/>
          </a:xfrm>
          <a:prstGeom prst="rect">
            <a:avLst/>
          </a:prstGeom>
          <a:solidFill>
            <a:srgbClr val="3EC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4475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RISK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56231"/>
            <a:ext cx="3154679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B8CD"/>
                </a:solidFill>
              </a:defRPr>
            </a:pPr>
            <a:r>
              <a:t>• Precision</a:t>
            </a:r>
            <a:br/>
            <a:r>
              <a:t>• Recall</a:t>
            </a:r>
            <a:br/>
            <a:r>
              <a:t>• F1-score</a:t>
            </a:r>
            <a:br/>
            <a:r>
              <a:t>• Confusion matrix</a:t>
            </a:r>
            <a:br/>
            <a:r>
              <a:t>• False-positive / false-negative analysis</a:t>
            </a:r>
            <a:br/>
            <a:r>
              <a:t>• Where appropriate: PR-AUC / ROC-AUC</a:t>
            </a:r>
            <a:br/>
            <a:r>
              <a:t>• Interpretability of risk outputs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474720" cy="438912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50292" cy="4389120"/>
          </a:xfrm>
          <a:prstGeom prst="rect">
            <a:avLst/>
          </a:prstGeom>
          <a:solidFill>
            <a:srgbClr val="9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44475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F6FC"/>
                </a:solidFill>
              </a:defRPr>
            </a:pPr>
            <a:r>
              <a:t>RESEARCH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856231"/>
            <a:ext cx="3154679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B8CD"/>
                </a:solidFill>
              </a:defRPr>
            </a:pPr>
            <a:r>
              <a:t>• Demonstrate workload-based DB selection</a:t>
            </a:r>
            <a:br/>
            <a:r>
              <a:t>• Show end-to-end data flow</a:t>
            </a:r>
            <a:br/>
            <a:r>
              <a:t>• Connect storage to risk analytics</a:t>
            </a:r>
            <a:br/>
            <a:r>
              <a:t>• Compare practical trade-offs</a:t>
            </a:r>
            <a:br/>
            <a:r>
              <a:t>• Document limitations and future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8CD"/>
                </a:solidFill>
              </a:defRPr>
            </a:pPr>
            <a:r>
              <a:t>Financial Risk Analytics with Polyglot Data Engineering  |  Review–2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</a:defRPr>
            </a:pPr>
            <a:r>
              <a:t>13. Expected Outcomes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8CD"/>
                </a:solidFill>
              </a:defRPr>
            </a:pPr>
            <a:r>
              <a:t>A strong review also acknowledges what the project will and will not claim.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74720" cy="438912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50292" cy="4389120"/>
          </a:xfrm>
          <a:prstGeom prst="rect">
            <a:avLst/>
          </a:prstGeom>
          <a:solidFill>
            <a:srgbClr val="3EC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F6FC"/>
                </a:solidFill>
              </a:defRPr>
            </a:pPr>
            <a:r>
              <a:t>EXPECTED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56231"/>
            <a:ext cx="3154679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B8CD"/>
                </a:solidFill>
              </a:defRPr>
            </a:pPr>
            <a:r>
              <a:t>Secure financial data platform</a:t>
            </a:r>
            <a:br/>
            <a:br/>
            <a:r>
              <a:t>Reliable transaction processing</a:t>
            </a:r>
            <a:br/>
            <a:br/>
            <a:r>
              <a:t>Polyglot storage architecture</a:t>
            </a:r>
            <a:br/>
            <a:br/>
            <a:r>
              <a:t>Risk indicators / analytics</a:t>
            </a:r>
            <a:br/>
            <a:br/>
            <a:r>
              <a:t>Actionable reports and alerts</a:t>
            </a:r>
            <a:br/>
            <a:br/>
            <a:r>
              <a:t>Evidence-based DB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438912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50292" cy="4389120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4475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F6FC"/>
                </a:solidFill>
              </a:defRPr>
            </a:pPr>
            <a:r>
              <a:t>EXPECTED BENEFITS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56231"/>
            <a:ext cx="3154679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B8CD"/>
                </a:solidFill>
              </a:defRPr>
            </a:pPr>
            <a:r>
              <a:t>Faster risk visibility</a:t>
            </a:r>
            <a:br/>
            <a:br/>
            <a:r>
              <a:t>Better separation of workloads</a:t>
            </a:r>
            <a:br/>
            <a:br/>
            <a:r>
              <a:t>Flexible analytics data</a:t>
            </a:r>
            <a:br/>
            <a:br/>
            <a:r>
              <a:t>Improved security</a:t>
            </a:r>
            <a:br/>
            <a:br/>
            <a:r>
              <a:t>Traceable data-to-report workflow</a:t>
            </a:r>
            <a:br/>
            <a:br/>
            <a:r>
              <a:t>Foundation for future ML/fraud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474720" cy="438912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50292" cy="4389120"/>
          </a:xfrm>
          <a:prstGeom prst="rect">
            <a:avLst/>
          </a:prstGeom>
          <a:solidFill>
            <a:srgbClr val="F4A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44475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F6FC"/>
                </a:solidFill>
              </a:defRPr>
            </a:pPr>
            <a:r>
              <a:t>KNOWN 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856231"/>
            <a:ext cx="3154679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B8CD"/>
                </a:solidFill>
              </a:defRPr>
            </a:pPr>
            <a:r>
              <a:t>Dataset availability may constrain realism.</a:t>
            </a:r>
            <a:br/>
            <a:br/>
            <a:r>
              <a:t>MongoDB + PostgreSQL increases operational complexity.</a:t>
            </a:r>
            <a:br/>
            <a:br/>
            <a:r>
              <a:t>A prototype cannot represent every banking workload.</a:t>
            </a:r>
            <a:br/>
            <a:br/>
            <a:r>
              <a:t>Future work is needed for real-time streaming, advanced fraud models, cloud scale and regulatory deployment.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8CD"/>
                </a:solidFill>
              </a:defRPr>
            </a:pPr>
            <a:r>
              <a:t>Financial Risk Analytics with Polyglot Data Engineering  |  Review–2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</a:defRPr>
            </a:pPr>
            <a:r>
              <a:t>14. Conclusion — Literature → Gap → Contribution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383280" cy="420624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0292" cy="4206240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2F6FC"/>
                </a:solidFill>
              </a:defRPr>
            </a:pPr>
            <a:r>
              <a:t>LITERATURE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01952"/>
            <a:ext cx="3063240" cy="3584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B8CD"/>
                </a:solidFill>
              </a:defRPr>
            </a:pPr>
            <a:r>
              <a:t>Research is mature in financial risk/fraud analytics and increasingly mature in polyglot data engineering.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371600"/>
            <a:ext cx="3383280" cy="420624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371600"/>
            <a:ext cx="50292" cy="4206240"/>
          </a:xfrm>
          <a:prstGeom prst="rect">
            <a:avLst/>
          </a:prstGeom>
          <a:solidFill>
            <a:srgbClr val="ED6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2F6FC"/>
                </a:solidFill>
              </a:defRPr>
            </a:pPr>
            <a:r>
              <a:t>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01952"/>
            <a:ext cx="3063240" cy="3584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B8CD"/>
                </a:solidFill>
              </a:defRPr>
            </a:pPr>
            <a:r>
              <a:t>The two streams are usually studied separately; practical end-to-end integration, workload-aware DB choice and trust concerns remain under-connected.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4736" y="1371600"/>
            <a:ext cx="3383280" cy="4206240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74736" y="1371600"/>
            <a:ext cx="50292" cy="4206240"/>
          </a:xfrm>
          <a:prstGeom prst="rect">
            <a:avLst/>
          </a:prstGeom>
          <a:solidFill>
            <a:srgbClr val="3EC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5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2F6FC"/>
                </a:solidFill>
              </a:defRPr>
            </a:pPr>
            <a:r>
              <a:t>OUR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5" y="1901952"/>
            <a:ext cx="3063240" cy="3584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B8CD"/>
                </a:solidFill>
              </a:defRPr>
            </a:pPr>
            <a:r>
              <a:t>A secure PostgreSQL + MongoDB financial analytics platform that connects transaction processing, risk analytics, APIs and reporting.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2F6FC"/>
                </a:solidFill>
              </a:defRPr>
            </a:pPr>
            <a:r>
              <a:t>Key message: the database architecture should support the financial-risk decision, not exist separately from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8CD"/>
                </a:solidFill>
              </a:defRPr>
            </a:pPr>
            <a:r>
              <a:t>Financial Risk Analytics with Polyglot Data Engineering  |  Review–2  |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</a:defRPr>
            </a:pPr>
            <a:r>
              <a:t>15.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8CD"/>
                </a:solidFill>
              </a:defRPr>
            </a:pPr>
            <a:r>
              <a:t>Core academic sources used for Review–2.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69">
                <a:solidFill>
                  <a:srgbClr val="A9B8CD"/>
                </a:solidFill>
              </a:defRPr>
            </a:pPr>
            <a:r>
              <a:t>1. Murugan, M. S., &amp; Sree Kala, T. (2023). Large-scale data-driven financial risk management &amp; analysis using machine learning strategies. Measurement: Sensors, 27, 100756. DOI: 10.1016/j.measen.2023.100756.</a:t>
            </a:r>
          </a:p>
          <a:p>
            <a:pPr>
              <a:spcAft>
                <a:spcPts val="700"/>
              </a:spcAft>
              <a:defRPr sz="969">
                <a:solidFill>
                  <a:srgbClr val="A9B8CD"/>
                </a:solidFill>
              </a:defRPr>
            </a:pPr>
            <a:r>
              <a:t>2. Roy-Hubara, N., Shoval, P., &amp; Sturm, A. (2022). Selecting databases for Polyglot Persistence applications. Data &amp; Knowledge Engineering, 137, 101950. DOI: 10.1016/j.datak.2021.101950.</a:t>
            </a:r>
          </a:p>
          <a:p>
            <a:pPr>
              <a:spcAft>
                <a:spcPts val="700"/>
              </a:spcAft>
              <a:defRPr sz="969">
                <a:solidFill>
                  <a:srgbClr val="A9B8CD"/>
                </a:solidFill>
              </a:defRPr>
            </a:pPr>
            <a:r>
              <a:t>3. Khan, F. S. et al. (2025). Model-agnostic explainable artificial intelligence methods in finance: a systematic review, recent developments, limitations, challenges and future directions. Artificial Intelligence Review, 58, 232.</a:t>
            </a:r>
          </a:p>
          <a:p>
            <a:pPr>
              <a:spcAft>
                <a:spcPts val="700"/>
              </a:spcAft>
              <a:defRPr sz="969">
                <a:solidFill>
                  <a:srgbClr val="A9B8CD"/>
                </a:solidFill>
              </a:defRPr>
            </a:pPr>
            <a:r>
              <a:t>4. A Systematic Review of Machine Learning in Credit Card Fraud Detection Under Original Class Imbalance. Computers, 14(10), 437 (2025). DOI: 10.3390/computers14100437.</a:t>
            </a:r>
          </a:p>
          <a:p>
            <a:pPr>
              <a:spcAft>
                <a:spcPts val="700"/>
              </a:spcAft>
              <a:defRPr sz="969">
                <a:solidFill>
                  <a:srgbClr val="A9B8CD"/>
                </a:solidFill>
              </a:defRPr>
            </a:pPr>
            <a:r>
              <a:t>5. Prashanth, B. S. et al. (2026). Prediction of bank transaction fraud using TabNet—an adaptive deep learning architecture. International Review of Economics &amp; Finance, 106, 104916. DOI: 10.1016/j.iref.2026.104916.</a:t>
            </a:r>
          </a:p>
          <a:p>
            <a:pPr>
              <a:spcAft>
                <a:spcPts val="700"/>
              </a:spcAft>
              <a:defRPr sz="969">
                <a:solidFill>
                  <a:srgbClr val="A9B8CD"/>
                </a:solidFill>
              </a:defRPr>
            </a:pPr>
            <a:r>
              <a:t>6. Deep learning in financial fraud detection: Innovations, challenges, and applications. Data Science and Management, 9(2), 100162 (2026). DOI: 10.1016/j.dsm.2025.08.002.</a:t>
            </a:r>
          </a:p>
          <a:p>
            <a:pPr>
              <a:spcAft>
                <a:spcPts val="700"/>
              </a:spcAft>
              <a:defRPr sz="969">
                <a:solidFill>
                  <a:srgbClr val="A9B8CD"/>
                </a:solidFill>
              </a:defRPr>
            </a:pPr>
            <a:r>
              <a:t>7. A Review of Polyglot Persistence in the Big Data World. Information, 10(4), 141 (2019).</a:t>
            </a:r>
          </a:p>
          <a:p>
            <a:pPr>
              <a:spcAft>
                <a:spcPts val="700"/>
              </a:spcAft>
              <a:defRPr sz="969">
                <a:solidFill>
                  <a:srgbClr val="A9B8CD"/>
                </a:solidFill>
              </a:defRPr>
            </a:pPr>
            <a:r>
              <a:t>8. Fraud Detection Using Machine Learning in Financial Transactions: A Systematic Review (2026). DOI: 10.18623/rvd.v23.n2.4187.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8CD"/>
                </a:solidFill>
              </a:defRPr>
            </a:pPr>
            <a:r>
              <a:t>Financial Risk Analytics with Polyglot Data Engineering  |  Review–2  |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</a:defRPr>
            </a:pPr>
            <a:r>
              <a:t>16. Likely Questions &amp; Team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8CD"/>
                </a:solidFill>
              </a:defRPr>
            </a:pPr>
            <a:r>
              <a:t>Every team member should understand the whole project and literature review.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03520" cy="1024128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50292" cy="1024128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53312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2F6FC"/>
                </a:solidFill>
              </a:defRPr>
            </a:pPr>
            <a:r>
              <a:t>Why PostgreSQL?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4983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A9B8CD"/>
                </a:solidFill>
              </a:defRPr>
            </a:pPr>
            <a:r>
              <a:t>Structured banking records, relationships, constraints and transactional consistency.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303520" cy="1024128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0292" cy="1024128"/>
          </a:xfrm>
          <a:prstGeom prst="rect">
            <a:avLst/>
          </a:prstGeom>
          <a:solidFill>
            <a:srgbClr val="3EC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53312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2F6FC"/>
                </a:solidFill>
              </a:defRPr>
            </a:pPr>
            <a:r>
              <a:t>Why MongoDB?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64792"/>
            <a:ext cx="4983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A9B8CD"/>
                </a:solidFill>
              </a:defRPr>
            </a:pPr>
            <a:r>
              <a:t>Flexible document-oriented analytics data and schema evolution for non-core analytical structures.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468880"/>
            <a:ext cx="5303520" cy="1024128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468880"/>
            <a:ext cx="50292" cy="1024128"/>
          </a:xfrm>
          <a:prstGeom prst="rect">
            <a:avLst/>
          </a:prstGeom>
          <a:solidFill>
            <a:srgbClr val="F4A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87752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2F6FC"/>
                </a:solidFill>
              </a:defRPr>
            </a:pPr>
            <a:r>
              <a:t>Why not only one database?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999232"/>
            <a:ext cx="4983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A9B8CD"/>
                </a:solidFill>
              </a:defRPr>
            </a:pPr>
            <a:r>
              <a:t>Different workloads have different requirements; literature supports workload-driven database selection.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468880"/>
            <a:ext cx="5303520" cy="1024128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468880"/>
            <a:ext cx="50292" cy="1024128"/>
          </a:xfrm>
          <a:prstGeom prst="rect">
            <a:avLst/>
          </a:prstGeom>
          <a:solidFill>
            <a:srgbClr val="9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587752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2F6FC"/>
                </a:solidFill>
              </a:defRPr>
            </a:pPr>
            <a:r>
              <a:t>What is your research gap?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99232"/>
            <a:ext cx="4983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A9B8CD"/>
                </a:solidFill>
              </a:defRPr>
            </a:pPr>
            <a:r>
              <a:t>Integration of financial-risk analytics with workload-aware polyglot data engineering, security and end-to-end reporting.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703320"/>
            <a:ext cx="5303520" cy="1024128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703320"/>
            <a:ext cx="50292" cy="1024128"/>
          </a:xfrm>
          <a:prstGeom prst="rect">
            <a:avLst/>
          </a:prstGeom>
          <a:solidFill>
            <a:srgbClr val="41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822192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2F6FC"/>
                </a:solidFill>
              </a:defRPr>
            </a:pPr>
            <a:r>
              <a:t>What did the literature teach you?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233672"/>
            <a:ext cx="4983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A9B8CD"/>
                </a:solidFill>
              </a:defRPr>
            </a:pPr>
            <a:r>
              <a:t>Use appropriate metrics for imbalance, consider explainability, and choose databases according to workload requirements.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703320"/>
            <a:ext cx="5303520" cy="1024128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703320"/>
            <a:ext cx="50292" cy="1024128"/>
          </a:xfrm>
          <a:prstGeom prst="rect">
            <a:avLst/>
          </a:prstGeom>
          <a:solidFill>
            <a:srgbClr val="ED6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822192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2F6FC"/>
                </a:solidFill>
              </a:defRPr>
            </a:pPr>
            <a:r>
              <a:t>What is your novelty?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233672"/>
            <a:ext cx="4983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A9B8CD"/>
                </a:solidFill>
              </a:defRPr>
            </a:pPr>
            <a:r>
              <a:t>A practical DBMS-centered platform connecting transaction integrity, polyglot storage, secure APIs and risk analytics.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937760"/>
            <a:ext cx="5303520" cy="1024128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4937760"/>
            <a:ext cx="50292" cy="1024128"/>
          </a:xfrm>
          <a:prstGeom prst="rect">
            <a:avLst/>
          </a:prstGeom>
          <a:solidFill>
            <a:srgbClr val="3EC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056632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2F6FC"/>
                </a:solidFill>
              </a:defRPr>
            </a:pPr>
            <a:r>
              <a:t>Are you claiming a new ML algorithm?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468112"/>
            <a:ext cx="4983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A9B8CD"/>
                </a:solidFill>
              </a:defRPr>
            </a:pPr>
            <a:r>
              <a:t>No. The contribution is the integrated system/data-engineering workflow; advanced ML is a future extension or analytics component.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937760"/>
            <a:ext cx="5303520" cy="1024128"/>
          </a:xfrm>
          <a:prstGeom prst="roundRect">
            <a:avLst/>
          </a:prstGeom>
          <a:solidFill>
            <a:srgbClr val="141F31"/>
          </a:solidFill>
          <a:ln>
            <a:solidFill>
              <a:srgbClr val="2A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937760"/>
            <a:ext cx="50292" cy="1024128"/>
          </a:xfrm>
          <a:prstGeom prst="rect">
            <a:avLst/>
          </a:prstGeom>
          <a:solidFill>
            <a:srgbClr val="F4A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056632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2F6FC"/>
                </a:solidFill>
              </a:defRPr>
            </a:pPr>
            <a:r>
              <a:t>What are your limitations?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468112"/>
            <a:ext cx="4983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A9B8CD"/>
                </a:solidFill>
              </a:defRPr>
            </a:pPr>
            <a:r>
              <a:t>Dataset realism/availability, prototype scale, added operational complexity and need for future real-time/regulatory validation.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8CD"/>
                </a:solidFill>
              </a:defRPr>
            </a:pPr>
            <a:r>
              <a:t>Financial Risk Analytics with Polyglot Data Engineering  |  Review–2  |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