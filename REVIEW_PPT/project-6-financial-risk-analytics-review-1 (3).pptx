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156396-8F84-4DA8-80D2-94D320146ACD}" v="2" dt="2026-08-03T09:21:31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7E97-2DAE-5B03-DE57-2BA17DAA5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89B6E-417C-EA3F-29F4-5F0CEC23B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12E8E-CBB1-C11B-BF49-81B5EEA48F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80369-9C8D-E2AE-D813-4ECA2699FC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847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8204-2707-1846-6BBC-7A1D77BBE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10B14-AAE9-DCCA-8746-09B556B84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0A20E-33C0-4137-884A-125867684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BCAA6-A452-CF50-C312-ADC7DE94D23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459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8C95108-6354-4BCE-88B3-45A81266555C}"/>
              </a:ext>
            </a:extLst>
          </p:cNvPr>
          <p:cNvSpPr>
            <a:spLocks noGrp="1"/>
          </p:cNvSpPr>
          <p:nvPr/>
        </p:nvSpPr>
        <p:spPr>
          <a:xfrm>
            <a:off x="-87842" y="225556"/>
            <a:ext cx="12192000" cy="685800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r>
              <a:rPr lang="en-IN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 Members</a:t>
            </a:r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F767D3-F721-4F46-87AE-D28959F285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001EC030-3454-431A-AB89-41A23B74ABA8}"/>
              </a:ext>
            </a:extLst>
          </p:cNvPr>
          <p:cNvSpPr>
            <a:spLocks noGrp="1"/>
          </p:cNvSpPr>
          <p:nvPr/>
        </p:nvSpPr>
        <p:spPr>
          <a:xfrm>
            <a:off x="8610600" y="-533399"/>
            <a:ext cx="4000500" cy="4000500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AF92FF63-59D4-4D79-83F8-AD95CEF807A8}"/>
              </a:ext>
            </a:extLst>
          </p:cNvPr>
          <p:cNvSpPr>
            <a:spLocks noGrp="1"/>
          </p:cNvSpPr>
          <p:nvPr/>
        </p:nvSpPr>
        <p:spPr>
          <a:xfrm>
            <a:off x="9544050" y="304800"/>
            <a:ext cx="2857500" cy="2857500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FEA43-D944-429E-9D48-861E09C1A347}"/>
              </a:ext>
            </a:extLst>
          </p:cNvPr>
          <p:cNvSpPr>
            <a:spLocks noGrp="1"/>
          </p:cNvSpPr>
          <p:nvPr/>
        </p:nvSpPr>
        <p:spPr>
          <a:xfrm>
            <a:off x="0" y="-38100"/>
            <a:ext cx="6008158" cy="6858000"/>
          </a:xfrm>
          <a:prstGeom prst="rect">
            <a:avLst/>
          </a:prstGeom>
          <a:solidFill>
            <a:srgbClr val="0B2D5C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92280-4C5F-4627-BEC8-60881F73E3BD}"/>
              </a:ext>
            </a:extLst>
          </p:cNvPr>
          <p:cNvSpPr>
            <a:spLocks noGrp="1"/>
          </p:cNvSpPr>
          <p:nvPr/>
        </p:nvSpPr>
        <p:spPr>
          <a:xfrm>
            <a:off x="6000750" y="0"/>
            <a:ext cx="247650" cy="6858000"/>
          </a:xfrm>
          <a:prstGeom prst="rect">
            <a:avLst/>
          </a:prstGeom>
          <a:solidFill>
            <a:srgbClr val="00A6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12B11A-6F9E-49E5-B08A-3A730053B298}"/>
              </a:ext>
            </a:extLst>
          </p:cNvPr>
          <p:cNvSpPr>
            <a:spLocks noGrp="1"/>
          </p:cNvSpPr>
          <p:nvPr/>
        </p:nvSpPr>
        <p:spPr>
          <a:xfrm>
            <a:off x="10382250" y="819150"/>
            <a:ext cx="609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endParaRPr sz="225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CABD5D-A2D1-41C8-A305-2576AB7C64B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9BD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BD8FF"/>
                </a:solidFill>
                <a:latin typeface="Aptos"/>
                <a:ea typeface="Aptos"/>
                <a:cs typeface="Aptos"/>
              </a:rPr>
              <a:t>25CS1302E - DBE &amp; DSD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9FF98-D037-446D-A52F-4E3AECE90E8B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Review-1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07CDC9-DC4D-4853-8065-7834A26D44B5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4095750" cy="1558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Financial Risk Analytics with Polyglot Data Engineering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625F4C-1942-4506-AB34-746332C1F981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4732020" cy="12031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>
                <a:solidFill>
                  <a:srgbClr val="D8ECFF"/>
                </a:solidFill>
                <a:latin typeface="Aptos"/>
                <a:ea typeface="Aptos"/>
                <a:cs typeface="Aptos"/>
              </a:defRPr>
            </a:pPr>
            <a:r>
              <a:rPr sz="2000" b="0" dirty="0">
                <a:solidFill>
                  <a:srgbClr val="D8ECFF"/>
                </a:solidFill>
                <a:latin typeface="Aptos"/>
                <a:ea typeface="Aptos"/>
                <a:cs typeface="Aptos"/>
              </a:rPr>
              <a:t>Group No: </a:t>
            </a:r>
            <a:r>
              <a:rPr lang="en-IN" sz="2000" dirty="0">
                <a:solidFill>
                  <a:srgbClr val="D8ECFF"/>
                </a:solidFill>
                <a:latin typeface="Aptos"/>
                <a:ea typeface="Aptos"/>
                <a:cs typeface="Aptos"/>
              </a:rPr>
              <a:t>16</a:t>
            </a:r>
            <a:r>
              <a:rPr sz="2000" b="0" dirty="0">
                <a:solidFill>
                  <a:srgbClr val="D8ECFF"/>
                </a:solidFill>
                <a:latin typeface="Aptos"/>
                <a:ea typeface="Aptos"/>
                <a:cs typeface="Aptos"/>
              </a:rPr>
              <a:t> </a:t>
            </a:r>
            <a:endParaRPr lang="en-IN" sz="2000" b="0" dirty="0">
              <a:solidFill>
                <a:srgbClr val="D8ECFF"/>
              </a:solidFill>
              <a:latin typeface="Aptos"/>
              <a:ea typeface="Aptos"/>
              <a:cs typeface="Aptos"/>
            </a:endParaRPr>
          </a:p>
          <a:p>
            <a:pPr>
              <a:defRPr sz="1275" b="0">
                <a:solidFill>
                  <a:srgbClr val="D8ECFF"/>
                </a:solidFill>
                <a:latin typeface="Aptos"/>
                <a:ea typeface="Aptos"/>
                <a:cs typeface="Aptos"/>
              </a:defRPr>
            </a:pPr>
            <a:r>
              <a:rPr sz="2000" b="0" dirty="0">
                <a:solidFill>
                  <a:srgbClr val="D8ECFF"/>
                </a:solidFill>
                <a:latin typeface="Aptos"/>
                <a:ea typeface="Aptos"/>
                <a:cs typeface="Aptos"/>
              </a:rPr>
              <a:t> Supervisor: [</a:t>
            </a:r>
            <a:r>
              <a:rPr lang="en-IN" sz="2000" b="0" dirty="0">
                <a:solidFill>
                  <a:srgbClr val="D8ECFF"/>
                </a:solidFill>
                <a:latin typeface="Aptos"/>
                <a:ea typeface="Aptos"/>
                <a:cs typeface="Aptos"/>
              </a:rPr>
              <a:t>Dr. </a:t>
            </a:r>
            <a:r>
              <a:rPr lang="en-IN" sz="2000" dirty="0"/>
              <a:t>Laiphangbam</a:t>
            </a:r>
            <a:r>
              <a:rPr lang="en-IN" sz="1275" dirty="0"/>
              <a:t>  </a:t>
            </a:r>
            <a:r>
              <a:rPr lang="en-IN" sz="2000" b="0" dirty="0">
                <a:solidFill>
                  <a:srgbClr val="D8ECFF"/>
                </a:solidFill>
                <a:latin typeface="Aptos"/>
                <a:ea typeface="Aptos"/>
                <a:cs typeface="Aptos"/>
              </a:rPr>
              <a:t>Melinda</a:t>
            </a:r>
            <a:r>
              <a:rPr sz="2000" b="0" dirty="0">
                <a:solidFill>
                  <a:srgbClr val="D8ECFF"/>
                </a:solidFill>
                <a:latin typeface="Aptos"/>
                <a:ea typeface="Aptos"/>
                <a:cs typeface="Aptos"/>
              </a:rPr>
              <a:t>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327053-17F6-4F21-9847-88D90A3871B4}"/>
              </a:ext>
            </a:extLst>
          </p:cNvPr>
          <p:cNvSpPr>
            <a:spLocks noGrp="1"/>
          </p:cNvSpPr>
          <p:nvPr/>
        </p:nvSpPr>
        <p:spPr>
          <a:xfrm>
            <a:off x="6351270" y="3676650"/>
            <a:ext cx="563499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endParaRPr lang="en-IN" sz="1350" b="0" dirty="0">
              <a:solidFill>
                <a:schemeClr val="accent1">
                  <a:lumMod val="50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Team Members:</a:t>
            </a:r>
            <a:endParaRPr lang="en-IN" sz="2800" dirty="0">
              <a:solidFill>
                <a:schemeClr val="accent1">
                  <a:lumMod val="50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endParaRPr lang="en-IN" sz="1350" dirty="0">
              <a:solidFill>
                <a:schemeClr val="accent1">
                  <a:lumMod val="50000"/>
                </a:schemeClr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[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utkalika</a:t>
            </a: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] - [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251008004</a:t>
            </a: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 ]</a:t>
            </a:r>
          </a:p>
          <a:p>
            <a:pPr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[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Divya sri</a:t>
            </a: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] - [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2510080025</a:t>
            </a: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]</a:t>
            </a:r>
          </a:p>
          <a:p>
            <a:pPr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[</a:t>
            </a: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Ambika naidu</a:t>
            </a:r>
            <a:r>
              <a:rPr lang="en-IN"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]</a:t>
            </a: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 - [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2510080033</a:t>
            </a: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]</a:t>
            </a:r>
          </a:p>
          <a:p>
            <a:pPr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[</a:t>
            </a:r>
            <a:r>
              <a:rPr lang="en-US" sz="1350" dirty="0">
                <a:solidFill>
                  <a:schemeClr val="accent1">
                    <a:lumMod val="50000"/>
                  </a:schemeClr>
                </a:solidFill>
              </a:rPr>
              <a:t>Kavitha reddy</a:t>
            </a: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] - [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2510080035</a:t>
            </a:r>
            <a:r>
              <a:rPr sz="1350" b="0" dirty="0">
                <a:solidFill>
                  <a:schemeClr val="accent1">
                    <a:lumMod val="50000"/>
                  </a:schemeClr>
                </a:solidFill>
                <a:latin typeface="Aptos"/>
                <a:ea typeface="Aptos"/>
                <a:cs typeface="Aptos"/>
              </a:rPr>
              <a:t>]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88C43CD-96F6-92D7-B432-4F9647442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0207" y="95251"/>
            <a:ext cx="2333951" cy="14670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645D55-FA2C-1F86-ADB6-751AE8A75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705" y="628650"/>
            <a:ext cx="3250561" cy="294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4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CB7B6B4-D99B-40CB-8B1A-9EA09269C465}"/>
              </a:ext>
            </a:extLst>
          </p:cNvPr>
          <p:cNvSpPr>
            <a:spLocks noGrp="1"/>
          </p:cNvSpPr>
          <p:nvPr/>
        </p:nvSpPr>
        <p:spPr>
          <a:xfrm>
            <a:off x="171450" y="-566737"/>
            <a:ext cx="12192000" cy="685800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0A8BA1-B9BD-4405-A6BF-B24294EC3E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B4D23E2E-A966-48FD-B990-A710D5A35077}"/>
              </a:ext>
            </a:extLst>
          </p:cNvPr>
          <p:cNvSpPr>
            <a:spLocks noGrp="1"/>
          </p:cNvSpPr>
          <p:nvPr/>
        </p:nvSpPr>
        <p:spPr>
          <a:xfrm>
            <a:off x="9258300" y="-1352550"/>
            <a:ext cx="4000500" cy="4000500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5C621E09-DA57-474C-94F2-45BF15847B97}"/>
              </a:ext>
            </a:extLst>
          </p:cNvPr>
          <p:cNvSpPr>
            <a:spLocks noGrp="1"/>
          </p:cNvSpPr>
          <p:nvPr/>
        </p:nvSpPr>
        <p:spPr>
          <a:xfrm>
            <a:off x="10058400" y="-781050"/>
            <a:ext cx="2857500" cy="2857500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D833C7-F3CD-48A0-AB11-4C0253AC77C8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PROJECT REVIEW-1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4EA010-D0DA-4FB6-97AC-6110EE7BB735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rPr>
              <a:t>Problem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CEF5DB-CC53-4E34-9A49-885CFE3D54D6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800100" cy="38100"/>
          </a:xfrm>
          <a:prstGeom prst="rect">
            <a:avLst/>
          </a:prstGeom>
          <a:solidFill>
            <a:srgbClr val="00A6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FB1C6B-816C-4856-B352-F71463229FE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172593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529537-1F58-4C0E-818C-B15550572014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0600" y="2114550"/>
            <a:ext cx="228600" cy="228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D500676-830E-4A32-B3A0-D10D20B04BDA}"/>
              </a:ext>
            </a:extLst>
          </p:cNvPr>
          <p:cNvSpPr>
            <a:spLocks noGrp="1"/>
          </p:cNvSpPr>
          <p:nvPr/>
        </p:nvSpPr>
        <p:spPr>
          <a:xfrm>
            <a:off x="1485900" y="1981200"/>
            <a:ext cx="222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What is the problem?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5EB30-D786-4E0F-8620-11C9681A4F95}"/>
              </a:ext>
            </a:extLst>
          </p:cNvPr>
          <p:cNvSpPr>
            <a:spLocks noGrp="1"/>
          </p:cNvSpPr>
          <p:nvPr/>
        </p:nvSpPr>
        <p:spPr>
          <a:xfrm>
            <a:off x="1485900" y="2362200"/>
            <a:ext cx="22288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Banks handle high-volume customer, account, and transaction data that is difficult to analyze across separate systems.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2A95C9-568E-45D0-8FE7-17B4F697A739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3238500" cy="172593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6CE301-366E-4265-A00E-5918E6182036}"/>
              </a:ext>
            </a:extLst>
          </p:cNvPr>
          <p:cNvSpPr>
            <a:spLocks noGrp="1"/>
          </p:cNvSpPr>
          <p:nvPr/>
        </p:nvSpPr>
        <p:spPr>
          <a:xfrm>
            <a:off x="4667250" y="2000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Graphic 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781550" y="2114550"/>
            <a:ext cx="228600" cy="228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79B691F-5E45-4EB9-B314-6B5A1C8C95F6}"/>
              </a:ext>
            </a:extLst>
          </p:cNvPr>
          <p:cNvSpPr>
            <a:spLocks noGrp="1"/>
          </p:cNvSpPr>
          <p:nvPr/>
        </p:nvSpPr>
        <p:spPr>
          <a:xfrm>
            <a:off x="5276850" y="1981200"/>
            <a:ext cx="222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Why does it matter?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F8A8F-41E8-4663-B435-B7C9DBC505FD}"/>
              </a:ext>
            </a:extLst>
          </p:cNvPr>
          <p:cNvSpPr>
            <a:spLocks noGrp="1"/>
          </p:cNvSpPr>
          <p:nvPr/>
        </p:nvSpPr>
        <p:spPr>
          <a:xfrm>
            <a:off x="5276850" y="2362200"/>
            <a:ext cx="22288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Delayed risk detection can lead to fraud exposure, poor compliance visibility, and weak financial decisions.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5DA8DE-2F32-42CC-86F4-8ED84597DACF}"/>
              </a:ext>
            </a:extLst>
          </p:cNvPr>
          <p:cNvSpPr>
            <a:spLocks noGrp="1"/>
          </p:cNvSpPr>
          <p:nvPr/>
        </p:nvSpPr>
        <p:spPr>
          <a:xfrm>
            <a:off x="8267700" y="1809750"/>
            <a:ext cx="3238500" cy="172593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7256A0-29DB-437B-91A6-4083AFA1A779}"/>
              </a:ext>
            </a:extLst>
          </p:cNvPr>
          <p:cNvSpPr>
            <a:spLocks noGrp="1"/>
          </p:cNvSpPr>
          <p:nvPr/>
        </p:nvSpPr>
        <p:spPr>
          <a:xfrm>
            <a:off x="8458200" y="20002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572500" y="2114550"/>
            <a:ext cx="228600" cy="2286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349C19E-B240-4B95-8853-20EBCB00E6C8}"/>
              </a:ext>
            </a:extLst>
          </p:cNvPr>
          <p:cNvSpPr>
            <a:spLocks noGrp="1"/>
          </p:cNvSpPr>
          <p:nvPr/>
        </p:nvSpPr>
        <p:spPr>
          <a:xfrm>
            <a:off x="9067800" y="1981200"/>
            <a:ext cx="222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Who faces it?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7BDEB-C3E6-479C-BF71-472119EA6E6E}"/>
              </a:ext>
            </a:extLst>
          </p:cNvPr>
          <p:cNvSpPr>
            <a:spLocks noGrp="1"/>
          </p:cNvSpPr>
          <p:nvPr/>
        </p:nvSpPr>
        <p:spPr>
          <a:xfrm>
            <a:off x="9067800" y="2362200"/>
            <a:ext cx="22288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Customers, bank admins, finance teams, and risk analysts who need trusted data and fast financial reports.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E4CBAA8-509A-4DE3-A758-02D7F2D15CF8}"/>
              </a:ext>
            </a:extLst>
          </p:cNvPr>
          <p:cNvSpPr>
            <a:spLocks noGrp="1"/>
          </p:cNvSpPr>
          <p:nvPr/>
        </p:nvSpPr>
        <p:spPr>
          <a:xfrm>
            <a:off x="1714500" y="4000500"/>
            <a:ext cx="8763000" cy="1066800"/>
          </a:xfrm>
          <a:prstGeom prst="roundRect">
            <a:avLst>
              <a:gd name="adj" fmla="val 7143"/>
            </a:avLst>
          </a:prstGeom>
          <a:solidFill>
            <a:srgbClr val="EEF7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076450" y="4324350"/>
            <a:ext cx="381000" cy="381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3E3251B-56B3-437F-918C-D5DF017CCD00}"/>
              </a:ext>
            </a:extLst>
          </p:cNvPr>
          <p:cNvSpPr>
            <a:spLocks noGrp="1"/>
          </p:cNvSpPr>
          <p:nvPr/>
        </p:nvSpPr>
        <p:spPr>
          <a:xfrm>
            <a:off x="2724150" y="42100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Core Problem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51FB59-A519-49DD-9AED-4605E14747E7}"/>
              </a:ext>
            </a:extLst>
          </p:cNvPr>
          <p:cNvSpPr>
            <a:spLocks noGrp="1"/>
          </p:cNvSpPr>
          <p:nvPr/>
        </p:nvSpPr>
        <p:spPr>
          <a:xfrm>
            <a:off x="2724150" y="45720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secure analytics platform is needed to unify relational and NoSQL financial data, process transactions, and surface risk insights quickly.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80B5B5-F873-4B36-B959-0701557DB4AD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C29699-8951-4487-8D03-EBE10132B984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57239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FAF7EE9-A7F5-49CE-8398-5A27C8F4A7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8808BF-1299-471F-954F-3A98555C44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F02214B6-2FF4-4D6B-8BD8-42B0F57C5169}"/>
              </a:ext>
            </a:extLst>
          </p:cNvPr>
          <p:cNvSpPr>
            <a:spLocks noGrp="1"/>
          </p:cNvSpPr>
          <p:nvPr/>
        </p:nvSpPr>
        <p:spPr>
          <a:xfrm>
            <a:off x="9258300" y="-1352550"/>
            <a:ext cx="4000500" cy="4000500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F2721D3A-8A37-4BFA-9F89-FBBEBF9611C7}"/>
              </a:ext>
            </a:extLst>
          </p:cNvPr>
          <p:cNvSpPr>
            <a:spLocks noGrp="1"/>
          </p:cNvSpPr>
          <p:nvPr/>
        </p:nvSpPr>
        <p:spPr>
          <a:xfrm>
            <a:off x="10058400" y="-781050"/>
            <a:ext cx="2857500" cy="2857500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8B693D-F037-403C-88F5-924219CF04EC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SOCIETAL / INDUSTRY NEED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6958A-1E2E-4646-920F-D60795CCA28C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rPr>
              <a:t>Need for the 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C2E060-0F48-4965-81A3-B163A0E44B3C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800100" cy="38100"/>
          </a:xfrm>
          <a:prstGeom prst="rect">
            <a:avLst/>
          </a:prstGeom>
          <a:solidFill>
            <a:srgbClr val="00A6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BD0A54-1CFA-4734-9F8A-0DA0C5347066}"/>
              </a:ext>
            </a:extLst>
          </p:cNvPr>
          <p:cNvSpPr>
            <a:spLocks noGrp="1"/>
          </p:cNvSpPr>
          <p:nvPr/>
        </p:nvSpPr>
        <p:spPr>
          <a:xfrm>
            <a:off x="1123950" y="1800225"/>
            <a:ext cx="247650" cy="24765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C6988C-1B8C-4EA7-A330-F0BD36EAA628}"/>
              </a:ext>
            </a:extLst>
          </p:cNvPr>
          <p:cNvSpPr>
            <a:spLocks noGrp="1"/>
          </p:cNvSpPr>
          <p:nvPr/>
        </p:nvSpPr>
        <p:spPr>
          <a:xfrm>
            <a:off x="1123950" y="18288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16CDB5-0300-4FE2-89BC-F8A66AEBDB63}"/>
              </a:ext>
            </a:extLst>
          </p:cNvPr>
          <p:cNvSpPr>
            <a:spLocks noGrp="1"/>
          </p:cNvSpPr>
          <p:nvPr/>
        </p:nvSpPr>
        <p:spPr>
          <a:xfrm>
            <a:off x="1524000" y="1752600"/>
            <a:ext cx="779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Reliable financial decisions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E105D-F4CB-49AA-A79B-91952EE9516F}"/>
              </a:ext>
            </a:extLst>
          </p:cNvPr>
          <p:cNvSpPr>
            <a:spLocks noGrp="1"/>
          </p:cNvSpPr>
          <p:nvPr/>
        </p:nvSpPr>
        <p:spPr>
          <a:xfrm>
            <a:off x="1524000" y="2057400"/>
            <a:ext cx="7791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Banks need clean customer, account, and transaction data to detect exposure and support risk review.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6D22F3-8819-4908-B866-BFD884C41756}"/>
              </a:ext>
            </a:extLst>
          </p:cNvPr>
          <p:cNvSpPr>
            <a:spLocks noGrp="1"/>
          </p:cNvSpPr>
          <p:nvPr/>
        </p:nvSpPr>
        <p:spPr>
          <a:xfrm>
            <a:off x="1123950" y="2676525"/>
            <a:ext cx="247650" cy="24765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7FEBC8-894B-42D7-AA98-7A6E273970B1}"/>
              </a:ext>
            </a:extLst>
          </p:cNvPr>
          <p:cNvSpPr>
            <a:spLocks noGrp="1"/>
          </p:cNvSpPr>
          <p:nvPr/>
        </p:nvSpPr>
        <p:spPr>
          <a:xfrm>
            <a:off x="1123950" y="27051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3E8860-13D1-4684-AA67-7AF158D3E7F3}"/>
              </a:ext>
            </a:extLst>
          </p:cNvPr>
          <p:cNvSpPr>
            <a:spLocks noGrp="1"/>
          </p:cNvSpPr>
          <p:nvPr/>
        </p:nvSpPr>
        <p:spPr>
          <a:xfrm>
            <a:off x="1524000" y="2628900"/>
            <a:ext cx="779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Secure customer service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1B328B-07D3-4C3B-8920-534466E0C7EF}"/>
              </a:ext>
            </a:extLst>
          </p:cNvPr>
          <p:cNvSpPr>
            <a:spLocks noGrp="1"/>
          </p:cNvSpPr>
          <p:nvPr/>
        </p:nvSpPr>
        <p:spPr>
          <a:xfrm>
            <a:off x="1524000" y="2933700"/>
            <a:ext cx="7791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Customers benefit from accurate accounts, safer transaction handling, and timely financial visibility.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59F5B6A-782F-4DEC-B1A2-354592859B44}"/>
              </a:ext>
            </a:extLst>
          </p:cNvPr>
          <p:cNvSpPr>
            <a:spLocks noGrp="1"/>
          </p:cNvSpPr>
          <p:nvPr/>
        </p:nvSpPr>
        <p:spPr>
          <a:xfrm>
            <a:off x="1123950" y="3552825"/>
            <a:ext cx="247650" cy="24765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8B8513-4EB5-4B84-94BE-C362CA57FDCE}"/>
              </a:ext>
            </a:extLst>
          </p:cNvPr>
          <p:cNvSpPr>
            <a:spLocks noGrp="1"/>
          </p:cNvSpPr>
          <p:nvPr/>
        </p:nvSpPr>
        <p:spPr>
          <a:xfrm>
            <a:off x="1123950" y="35814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B7639F-A570-4ADB-9AB4-0A0E230F193B}"/>
              </a:ext>
            </a:extLst>
          </p:cNvPr>
          <p:cNvSpPr>
            <a:spLocks noGrp="1"/>
          </p:cNvSpPr>
          <p:nvPr/>
        </p:nvSpPr>
        <p:spPr>
          <a:xfrm>
            <a:off x="1524000" y="3505200"/>
            <a:ext cx="779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0B2D5C"/>
                </a:solidFill>
                <a:latin typeface="Aptos"/>
                <a:ea typeface="Aptos"/>
                <a:cs typeface="Aptos"/>
              </a:rPr>
              <a:t>Operational efficiency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25D7C0-8927-461F-8FA8-4AA4C0853827}"/>
              </a:ext>
            </a:extLst>
          </p:cNvPr>
          <p:cNvSpPr>
            <a:spLocks noGrp="1"/>
          </p:cNvSpPr>
          <p:nvPr/>
        </p:nvSpPr>
        <p:spPr>
          <a:xfrm>
            <a:off x="1524000" y="3810000"/>
            <a:ext cx="7791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Bank admins can reduce manual checks through authenticated APIs, automated processing, and reports.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BB9D3B4-1F60-4A1D-8C88-C5D0C2B6F2AF}"/>
              </a:ext>
            </a:extLst>
          </p:cNvPr>
          <p:cNvSpPr>
            <a:spLocks noGrp="1"/>
          </p:cNvSpPr>
          <p:nvPr/>
        </p:nvSpPr>
        <p:spPr>
          <a:xfrm>
            <a:off x="1123950" y="4429125"/>
            <a:ext cx="247650" cy="247650"/>
          </a:xfrm>
          <a:prstGeom prst="ellipse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E3B3FD-EF7D-41E7-832E-98D3B6210EBC}"/>
              </a:ext>
            </a:extLst>
          </p:cNvPr>
          <p:cNvSpPr>
            <a:spLocks noGrp="1"/>
          </p:cNvSpPr>
          <p:nvPr/>
        </p:nvSpPr>
        <p:spPr>
          <a:xfrm>
            <a:off x="1123950" y="445770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1738DA-A699-43CA-9E78-FA5B3B9E5BAD}"/>
              </a:ext>
            </a:extLst>
          </p:cNvPr>
          <p:cNvSpPr>
            <a:spLocks noGrp="1"/>
          </p:cNvSpPr>
          <p:nvPr/>
        </p:nvSpPr>
        <p:spPr>
          <a:xfrm>
            <a:off x="1524000" y="4381500"/>
            <a:ext cx="7791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Industry-ready architecture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CC36DA-F904-4D1A-B908-BCF89D97F722}"/>
              </a:ext>
            </a:extLst>
          </p:cNvPr>
          <p:cNvSpPr>
            <a:spLocks noGrp="1"/>
          </p:cNvSpPr>
          <p:nvPr/>
        </p:nvSpPr>
        <p:spPr>
          <a:xfrm>
            <a:off x="1524000" y="4686300"/>
            <a:ext cx="7791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Polyglot storage and distributed backend services mirror modern financial technology systems.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763EB9C-6DCB-4DD6-8429-739123457F53}"/>
              </a:ext>
            </a:extLst>
          </p:cNvPr>
          <p:cNvSpPr>
            <a:spLocks noGrp="1"/>
          </p:cNvSpPr>
          <p:nvPr/>
        </p:nvSpPr>
        <p:spPr>
          <a:xfrm>
            <a:off x="9477375" y="1905000"/>
            <a:ext cx="1428750" cy="2476500"/>
          </a:xfrm>
          <a:prstGeom prst="roundRect">
            <a:avLst>
              <a:gd name="adj" fmla="val 5333"/>
            </a:avLst>
          </a:prstGeom>
          <a:solidFill>
            <a:srgbClr val="0B2D5C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Graphic 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82200" y="2247900"/>
            <a:ext cx="419100" cy="4191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3754F67-37AE-41F4-9297-A56DF38AD65A}"/>
              </a:ext>
            </a:extLst>
          </p:cNvPr>
          <p:cNvSpPr>
            <a:spLocks noGrp="1"/>
          </p:cNvSpPr>
          <p:nvPr/>
        </p:nvSpPr>
        <p:spPr>
          <a:xfrm>
            <a:off x="9696450" y="29718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BDF6CE-6E59-432D-A5F0-C3A9335A3C85}"/>
              </a:ext>
            </a:extLst>
          </p:cNvPr>
          <p:cNvSpPr>
            <a:spLocks noGrp="1"/>
          </p:cNvSpPr>
          <p:nvPr/>
        </p:nvSpPr>
        <p:spPr>
          <a:xfrm>
            <a:off x="9658350" y="3429000"/>
            <a:ext cx="10668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6FF"/>
                </a:solidFill>
                <a:latin typeface="Aptos"/>
                <a:ea typeface="Aptos"/>
                <a:cs typeface="Aptos"/>
              </a:rPr>
              <a:t>Risk alerts</a:t>
            </a:r>
          </a:p>
          <a:p>
            <a:pPr algn="ctr">
              <a:defRPr sz="1275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6FF"/>
                </a:solidFill>
                <a:latin typeface="Aptos"/>
                <a:ea typeface="Aptos"/>
                <a:cs typeface="Aptos"/>
              </a:rPr>
              <a:t>Safer banking</a:t>
            </a:r>
          </a:p>
          <a:p>
            <a:pPr algn="ctr">
              <a:defRPr sz="1275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6FF"/>
                </a:solidFill>
                <a:latin typeface="Aptos"/>
                <a:ea typeface="Aptos"/>
                <a:cs typeface="Aptos"/>
              </a:rPr>
              <a:t>Fast reports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2DBD11-39E4-434E-8053-DAB6691DE83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AF2019-AD9F-46C5-BED3-3C68119BCA25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282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6EF0F6E-7A3A-489C-8EAC-874F3E4AB6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32B3AA-4053-4BC5-AD77-0A79A08F80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5BBC1FEF-1BCE-4859-BE9B-ED83754DF3E0}"/>
              </a:ext>
            </a:extLst>
          </p:cNvPr>
          <p:cNvSpPr>
            <a:spLocks noGrp="1"/>
          </p:cNvSpPr>
          <p:nvPr/>
        </p:nvSpPr>
        <p:spPr>
          <a:xfrm>
            <a:off x="9258300" y="-1352550"/>
            <a:ext cx="4000500" cy="4000500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A74899DB-2BD3-4C4C-89A0-F59963F113FE}"/>
              </a:ext>
            </a:extLst>
          </p:cNvPr>
          <p:cNvSpPr>
            <a:spLocks noGrp="1"/>
          </p:cNvSpPr>
          <p:nvPr/>
        </p:nvSpPr>
        <p:spPr>
          <a:xfrm>
            <a:off x="10058400" y="-781050"/>
            <a:ext cx="2857500" cy="2857500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0079DE-ABD2-4442-8A37-CBD9A8240B5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PROJECT REVIEW-1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BB0FF-AB71-4D39-A5EC-B7433BE54B5B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rPr>
              <a:t>Project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D8FE2-3956-4140-80A0-D4D10C4F0BA6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800100" cy="38100"/>
          </a:xfrm>
          <a:prstGeom prst="rect">
            <a:avLst/>
          </a:prstGeom>
          <a:solidFill>
            <a:srgbClr val="00A6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7BD73D-89AC-4453-80A2-5A9D171D0F14}"/>
              </a:ext>
            </a:extLst>
          </p:cNvPr>
          <p:cNvSpPr>
            <a:spLocks noGrp="1"/>
          </p:cNvSpPr>
          <p:nvPr/>
        </p:nvSpPr>
        <p:spPr>
          <a:xfrm>
            <a:off x="857250" y="1638300"/>
            <a:ext cx="3048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E2A3C1-329E-4A22-A9FF-A60D0B4FA964}"/>
              </a:ext>
            </a:extLst>
          </p:cNvPr>
          <p:cNvSpPr>
            <a:spLocks noGrp="1"/>
          </p:cNvSpPr>
          <p:nvPr/>
        </p:nvSpPr>
        <p:spPr>
          <a:xfrm>
            <a:off x="1047750" y="18288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Graphic 4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162050" y="1943100"/>
            <a:ext cx="228600" cy="228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FA9009-6379-4182-AC9F-70B819AC47A4}"/>
              </a:ext>
            </a:extLst>
          </p:cNvPr>
          <p:cNvSpPr>
            <a:spLocks noGrp="1"/>
          </p:cNvSpPr>
          <p:nvPr/>
        </p:nvSpPr>
        <p:spPr>
          <a:xfrm>
            <a:off x="1657350" y="18097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Manage customers and accounts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A02660-AC3F-41E8-A086-4A248A615D0A}"/>
              </a:ext>
            </a:extLst>
          </p:cNvPr>
          <p:cNvSpPr>
            <a:spLocks noGrp="1"/>
          </p:cNvSpPr>
          <p:nvPr/>
        </p:nvSpPr>
        <p:spPr>
          <a:xfrm>
            <a:off x="1657350" y="2400300"/>
            <a:ext cx="2038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Create secure customer profiles, account records, balances, and relationship mapping.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9C2D03-A9B5-44A7-9F15-95AD492CB626}"/>
              </a:ext>
            </a:extLst>
          </p:cNvPr>
          <p:cNvSpPr>
            <a:spLocks noGrp="1"/>
          </p:cNvSpPr>
          <p:nvPr/>
        </p:nvSpPr>
        <p:spPr>
          <a:xfrm>
            <a:off x="4524375" y="1638300"/>
            <a:ext cx="3048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C0A289-A149-44FD-8D49-229ED3ED75AC}"/>
              </a:ext>
            </a:extLst>
          </p:cNvPr>
          <p:cNvSpPr>
            <a:spLocks noGrp="1"/>
          </p:cNvSpPr>
          <p:nvPr/>
        </p:nvSpPr>
        <p:spPr>
          <a:xfrm>
            <a:off x="4714875" y="18288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Graphic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829175" y="1943100"/>
            <a:ext cx="228600" cy="228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D45DD3-ED27-4149-A6D5-54E7B35A8FC8}"/>
              </a:ext>
            </a:extLst>
          </p:cNvPr>
          <p:cNvSpPr>
            <a:spLocks noGrp="1"/>
          </p:cNvSpPr>
          <p:nvPr/>
        </p:nvSpPr>
        <p:spPr>
          <a:xfrm>
            <a:off x="5324475" y="1771650"/>
            <a:ext cx="2038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B2D5C"/>
                </a:solidFill>
                <a:latin typeface="Aptos"/>
                <a:ea typeface="Aptos"/>
                <a:cs typeface="Aptos"/>
              </a:rPr>
              <a:t>Process transactions reliably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7F5D4C-32A1-4C6D-B464-2FC968EEDB6A}"/>
              </a:ext>
            </a:extLst>
          </p:cNvPr>
          <p:cNvSpPr>
            <a:spLocks noGrp="1"/>
          </p:cNvSpPr>
          <p:nvPr/>
        </p:nvSpPr>
        <p:spPr>
          <a:xfrm>
            <a:off x="5324475" y="2514600"/>
            <a:ext cx="2038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Validate deposits, withdrawals, transfers, transaction logs, and account updates.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1A8599-260B-4B69-99BF-33B063109A99}"/>
              </a:ext>
            </a:extLst>
          </p:cNvPr>
          <p:cNvSpPr>
            <a:spLocks noGrp="1"/>
          </p:cNvSpPr>
          <p:nvPr/>
        </p:nvSpPr>
        <p:spPr>
          <a:xfrm>
            <a:off x="8191500" y="1638300"/>
            <a:ext cx="3048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E1FE2A0-0B47-425A-B2C2-35A376C1A575}"/>
              </a:ext>
            </a:extLst>
          </p:cNvPr>
          <p:cNvSpPr>
            <a:spLocks noGrp="1"/>
          </p:cNvSpPr>
          <p:nvPr/>
        </p:nvSpPr>
        <p:spPr>
          <a:xfrm>
            <a:off x="8382000" y="18288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4" name="Graphic 5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496300" y="1943100"/>
            <a:ext cx="228600" cy="2286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BA2FB75-6A3C-4E1F-86AC-E8095D7054CD}"/>
              </a:ext>
            </a:extLst>
          </p:cNvPr>
          <p:cNvSpPr>
            <a:spLocks noGrp="1"/>
          </p:cNvSpPr>
          <p:nvPr/>
        </p:nvSpPr>
        <p:spPr>
          <a:xfrm>
            <a:off x="8991600" y="18097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Enable JWT-secured REST APIs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6E52FB-87C6-4A07-B9FA-259069CC83D7}"/>
              </a:ext>
            </a:extLst>
          </p:cNvPr>
          <p:cNvSpPr>
            <a:spLocks noGrp="1"/>
          </p:cNvSpPr>
          <p:nvPr/>
        </p:nvSpPr>
        <p:spPr>
          <a:xfrm>
            <a:off x="8991600" y="2400300"/>
            <a:ext cx="2038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Protect customer, bank admin, transaction, and report endpoints with token-based access.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1DE8172-9082-47DB-8299-C56FE097D36B}"/>
              </a:ext>
            </a:extLst>
          </p:cNvPr>
          <p:cNvSpPr>
            <a:spLocks noGrp="1"/>
          </p:cNvSpPr>
          <p:nvPr/>
        </p:nvSpPr>
        <p:spPr>
          <a:xfrm>
            <a:off x="2714625" y="3695700"/>
            <a:ext cx="3048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3AE00C5-61F6-4B67-859A-D3EF5152E035}"/>
              </a:ext>
            </a:extLst>
          </p:cNvPr>
          <p:cNvSpPr>
            <a:spLocks noGrp="1"/>
          </p:cNvSpPr>
          <p:nvPr/>
        </p:nvSpPr>
        <p:spPr>
          <a:xfrm>
            <a:off x="2905125" y="3886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9" name="Graphic 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3019425" y="4000500"/>
            <a:ext cx="228600" cy="2286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CCEEA3D-0D8C-43EC-8892-45D083132644}"/>
              </a:ext>
            </a:extLst>
          </p:cNvPr>
          <p:cNvSpPr>
            <a:spLocks noGrp="1"/>
          </p:cNvSpPr>
          <p:nvPr/>
        </p:nvSpPr>
        <p:spPr>
          <a:xfrm>
            <a:off x="3514725" y="38671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Deliver financial analytics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795E29-8831-439F-AC35-C459B8AFA49B}"/>
              </a:ext>
            </a:extLst>
          </p:cNvPr>
          <p:cNvSpPr>
            <a:spLocks noGrp="1"/>
          </p:cNvSpPr>
          <p:nvPr/>
        </p:nvSpPr>
        <p:spPr>
          <a:xfrm>
            <a:off x="3514725" y="4457700"/>
            <a:ext cx="2038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Analyze transaction patterns, financial risk signals, summaries, and performance reports.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D2767CF-D369-4A32-A85F-53200EA1026D}"/>
              </a:ext>
            </a:extLst>
          </p:cNvPr>
          <p:cNvSpPr>
            <a:spLocks noGrp="1"/>
          </p:cNvSpPr>
          <p:nvPr/>
        </p:nvSpPr>
        <p:spPr>
          <a:xfrm>
            <a:off x="6381750" y="3695700"/>
            <a:ext cx="3048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E6520F9-9BBB-4AF5-9602-8CBAC1F7D6F0}"/>
              </a:ext>
            </a:extLst>
          </p:cNvPr>
          <p:cNvSpPr>
            <a:spLocks noGrp="1"/>
          </p:cNvSpPr>
          <p:nvPr/>
        </p:nvSpPr>
        <p:spPr>
          <a:xfrm>
            <a:off x="6572250" y="38862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4" name="Graphic 6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686550" y="4000500"/>
            <a:ext cx="228600" cy="2286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1760F86-4E45-4167-8D10-7AE3E512B14D}"/>
              </a:ext>
            </a:extLst>
          </p:cNvPr>
          <p:cNvSpPr>
            <a:spLocks noGrp="1"/>
          </p:cNvSpPr>
          <p:nvPr/>
        </p:nvSpPr>
        <p:spPr>
          <a:xfrm>
            <a:off x="7181850" y="3867150"/>
            <a:ext cx="2038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Support deployment and testing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677FF8-D89D-4E76-AB08-48D3EF7E2D04}"/>
              </a:ext>
            </a:extLst>
          </p:cNvPr>
          <p:cNvSpPr>
            <a:spLocks noGrp="1"/>
          </p:cNvSpPr>
          <p:nvPr/>
        </p:nvSpPr>
        <p:spPr>
          <a:xfrm>
            <a:off x="7181850" y="4572000"/>
            <a:ext cx="20383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Package scalable backend services with documentation, test cases, and deployment readiness.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EC9DF37-26A2-46A5-8BB6-2B1CF6A32BAA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0E65BD-1A03-44A6-96C0-73A6B9962966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2740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E22908-6D66-4A3A-9DF9-6FC42EE9C0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D6D2C0-D6FB-427D-A7CF-2D5F9A2410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5161CFA5-E235-4DA4-9142-DD4A98C1CC0D}"/>
              </a:ext>
            </a:extLst>
          </p:cNvPr>
          <p:cNvSpPr>
            <a:spLocks noGrp="1"/>
          </p:cNvSpPr>
          <p:nvPr/>
        </p:nvSpPr>
        <p:spPr>
          <a:xfrm>
            <a:off x="9258300" y="-1352550"/>
            <a:ext cx="4000500" cy="4000500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FDDBC8D4-437F-4466-8AA4-66BB485089FE}"/>
              </a:ext>
            </a:extLst>
          </p:cNvPr>
          <p:cNvSpPr>
            <a:spLocks noGrp="1"/>
          </p:cNvSpPr>
          <p:nvPr/>
        </p:nvSpPr>
        <p:spPr>
          <a:xfrm>
            <a:off x="10058400" y="-781050"/>
            <a:ext cx="2857500" cy="2857500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6CCB0-706F-405A-9527-B2795E662E72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PROJECT REVIEW-1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CB91B2-4D8F-4393-995E-43DD0AE10EC2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rPr>
              <a:t>Proposed Solution / 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39B0D5-77B0-44C5-903D-CDD5220631C7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800100" cy="38100"/>
          </a:xfrm>
          <a:prstGeom prst="rect">
            <a:avLst/>
          </a:prstGeom>
          <a:solidFill>
            <a:srgbClr val="00A6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98D9BC-4CD8-498F-87D5-433EE87C49A5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2400" b="1" dirty="0">
                <a:solidFill>
                  <a:srgbClr val="0B2D5C"/>
                </a:solidFill>
                <a:latin typeface="Aptos"/>
                <a:ea typeface="Aptos"/>
                <a:cs typeface="Aptos"/>
              </a:rPr>
              <a:t>Solution Approach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3F4F54-F94A-4F23-B708-89B272348AB0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4762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Build a secure financial analytics platform that manages customers and accounts, processes transactions, stores data in PostgreSQL + MongoDB, and exposes JWT-secured REST APIs.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75DB666-E6D2-4C0A-B926-19A04BC4AC14}"/>
              </a:ext>
            </a:extLst>
          </p:cNvPr>
          <p:cNvSpPr>
            <a:spLocks noGrp="1"/>
          </p:cNvSpPr>
          <p:nvPr/>
        </p:nvSpPr>
        <p:spPr>
          <a:xfrm>
            <a:off x="1066800" y="36004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Graphic 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590675" y="3771900"/>
            <a:ext cx="381000" cy="381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A7A3C2C-ACF3-4FD9-AAD8-BB40B4C2EE6D}"/>
              </a:ext>
            </a:extLst>
          </p:cNvPr>
          <p:cNvSpPr>
            <a:spLocks noGrp="1"/>
          </p:cNvSpPr>
          <p:nvPr/>
        </p:nvSpPr>
        <p:spPr>
          <a:xfrm>
            <a:off x="1162050" y="42291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035EA1B-479D-4C9B-8893-E725FB48C3F6}"/>
              </a:ext>
            </a:extLst>
          </p:cNvPr>
          <p:cNvSpPr>
            <a:spLocks noGrp="1"/>
          </p:cNvSpPr>
          <p:nvPr/>
        </p:nvSpPr>
        <p:spPr>
          <a:xfrm>
            <a:off x="2571750" y="3867150"/>
            <a:ext cx="514350" cy="323850"/>
          </a:xfrm>
          <a:prstGeom prst="rightArrow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A490A17-6AAB-4D5F-BCE5-D6B13C73EBA2}"/>
              </a:ext>
            </a:extLst>
          </p:cNvPr>
          <p:cNvSpPr>
            <a:spLocks noGrp="1"/>
          </p:cNvSpPr>
          <p:nvPr/>
        </p:nvSpPr>
        <p:spPr>
          <a:xfrm>
            <a:off x="3162300" y="36004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7" name="Graphic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686175" y="3771900"/>
            <a:ext cx="381000" cy="381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8FD059-9852-4F87-90F5-79D1ACD90D36}"/>
              </a:ext>
            </a:extLst>
          </p:cNvPr>
          <p:cNvSpPr>
            <a:spLocks noGrp="1"/>
          </p:cNvSpPr>
          <p:nvPr/>
        </p:nvSpPr>
        <p:spPr>
          <a:xfrm>
            <a:off x="3257550" y="42291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62FFA92-0F87-4A14-AF6C-23A9075C4DA8}"/>
              </a:ext>
            </a:extLst>
          </p:cNvPr>
          <p:cNvSpPr>
            <a:spLocks noGrp="1"/>
          </p:cNvSpPr>
          <p:nvPr/>
        </p:nvSpPr>
        <p:spPr>
          <a:xfrm>
            <a:off x="4667250" y="3867150"/>
            <a:ext cx="514350" cy="323850"/>
          </a:xfrm>
          <a:prstGeom prst="rightArrow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AAE78E8-66CD-43BF-BB5E-29F87CCD5BF0}"/>
              </a:ext>
            </a:extLst>
          </p:cNvPr>
          <p:cNvSpPr>
            <a:spLocks noGrp="1"/>
          </p:cNvSpPr>
          <p:nvPr/>
        </p:nvSpPr>
        <p:spPr>
          <a:xfrm>
            <a:off x="5257800" y="3600450"/>
            <a:ext cx="1428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Graphic 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781675" y="3771900"/>
            <a:ext cx="381000" cy="381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7DB87B8-6875-433F-A92B-87BC49B06E94}"/>
              </a:ext>
            </a:extLst>
          </p:cNvPr>
          <p:cNvSpPr>
            <a:spLocks noGrp="1"/>
          </p:cNvSpPr>
          <p:nvPr/>
        </p:nvSpPr>
        <p:spPr>
          <a:xfrm>
            <a:off x="5353050" y="42291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C3F4212-3959-4D88-B68D-D8C5E6073CB4}"/>
              </a:ext>
            </a:extLst>
          </p:cNvPr>
          <p:cNvSpPr>
            <a:spLocks noGrp="1"/>
          </p:cNvSpPr>
          <p:nvPr/>
        </p:nvSpPr>
        <p:spPr>
          <a:xfrm>
            <a:off x="6762750" y="3867150"/>
            <a:ext cx="514350" cy="323850"/>
          </a:xfrm>
          <a:prstGeom prst="rightArrow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FEE83FA-D223-48DA-9E76-B844BC83F899}"/>
              </a:ext>
            </a:extLst>
          </p:cNvPr>
          <p:cNvSpPr>
            <a:spLocks noGrp="1"/>
          </p:cNvSpPr>
          <p:nvPr/>
        </p:nvSpPr>
        <p:spPr>
          <a:xfrm>
            <a:off x="7353300" y="3448051"/>
            <a:ext cx="1428750" cy="1352549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5" name="Graphic 5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877175" y="3771900"/>
            <a:ext cx="381000" cy="381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21630F0-9B9A-4839-B3FA-40B0931EDD17}"/>
              </a:ext>
            </a:extLst>
          </p:cNvPr>
          <p:cNvSpPr>
            <a:spLocks noGrp="1"/>
          </p:cNvSpPr>
          <p:nvPr/>
        </p:nvSpPr>
        <p:spPr>
          <a:xfrm>
            <a:off x="7448550" y="42291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PostgreSQL + MongoDB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A08CDC0-E503-43EE-BC60-36D9D083BE2D}"/>
              </a:ext>
            </a:extLst>
          </p:cNvPr>
          <p:cNvSpPr>
            <a:spLocks noGrp="1"/>
          </p:cNvSpPr>
          <p:nvPr/>
        </p:nvSpPr>
        <p:spPr>
          <a:xfrm>
            <a:off x="8858250" y="3867150"/>
            <a:ext cx="514350" cy="323850"/>
          </a:xfrm>
          <a:prstGeom prst="rightArrow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B7AA4ED-D062-4651-89C1-CE8331FAFDBC}"/>
              </a:ext>
            </a:extLst>
          </p:cNvPr>
          <p:cNvSpPr>
            <a:spLocks noGrp="1"/>
          </p:cNvSpPr>
          <p:nvPr/>
        </p:nvSpPr>
        <p:spPr>
          <a:xfrm>
            <a:off x="9420225" y="3371850"/>
            <a:ext cx="1428750" cy="14287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9" name="Graphic 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972675" y="3771900"/>
            <a:ext cx="381000" cy="3810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3A2AB3E-F170-475B-B318-1B1761C72836}"/>
              </a:ext>
            </a:extLst>
          </p:cNvPr>
          <p:cNvSpPr>
            <a:spLocks noGrp="1"/>
          </p:cNvSpPr>
          <p:nvPr/>
        </p:nvSpPr>
        <p:spPr>
          <a:xfrm>
            <a:off x="9544050" y="4229100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Financial Reports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467B39-40CF-4D5B-8816-C14E4404526C}"/>
              </a:ext>
            </a:extLst>
          </p:cNvPr>
          <p:cNvSpPr>
            <a:spLocks noGrp="1"/>
          </p:cNvSpPr>
          <p:nvPr/>
        </p:nvSpPr>
        <p:spPr>
          <a:xfrm>
            <a:off x="6705600" y="15621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Main Modules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EC6887-9556-4523-84B9-FB4623099919}"/>
              </a:ext>
            </a:extLst>
          </p:cNvPr>
          <p:cNvSpPr>
            <a:spLocks noGrp="1"/>
          </p:cNvSpPr>
          <p:nvPr/>
        </p:nvSpPr>
        <p:spPr>
          <a:xfrm>
            <a:off x="6705600" y="198120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285750" indent="-285750" algn="l">
              <a:buFont typeface="Wingdings" panose="05000000000000000000" pitchFamily="2" charset="2"/>
              <a:buChar char="§"/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Customer &amp; Account Management</a:t>
            </a:r>
          </a:p>
          <a:p>
            <a:pPr marL="285750" indent="-285750" algn="l">
              <a:buFont typeface="Wingdings" panose="05000000000000000000" pitchFamily="2" charset="2"/>
              <a:buChar char="§"/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Transaction Processing</a:t>
            </a:r>
          </a:p>
          <a:p>
            <a:pPr marL="285750" indent="-285750" algn="l">
              <a:buFont typeface="Wingdings" panose="05000000000000000000" pitchFamily="2" charset="2"/>
              <a:buChar char="§"/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Financial Analytics</a:t>
            </a:r>
          </a:p>
          <a:p>
            <a:pPr marL="285750" indent="-285750" algn="l">
              <a:buFont typeface="Wingdings" panose="05000000000000000000" pitchFamily="2" charset="2"/>
              <a:buChar char="§"/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REST APIs with JWT</a:t>
            </a:r>
          </a:p>
          <a:p>
            <a:pPr marL="285750" indent="-285750" algn="l">
              <a:buFont typeface="Wingdings" panose="05000000000000000000" pitchFamily="2" charset="2"/>
              <a:buChar char="§"/>
              <a:defRPr sz="15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Deployment, Testing &amp; Docs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802FAA-128C-466F-9329-CB4FF6BECA8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8953DE-81E9-400B-AFC3-B1E425C9F6C1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9438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0D081-BECD-06C6-701F-7FF68BA6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80CFE34-40FB-0523-F050-489B7EBDA84A}"/>
              </a:ext>
            </a:extLst>
          </p:cNvPr>
          <p:cNvSpPr>
            <a:spLocks noGrp="1"/>
          </p:cNvSpPr>
          <p:nvPr/>
        </p:nvSpPr>
        <p:spPr>
          <a:xfrm>
            <a:off x="0" y="916825"/>
            <a:ext cx="12192000" cy="5960225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2D267F-9A83-3D4C-30E1-9DEFE6BB9F2F}"/>
              </a:ext>
            </a:extLst>
          </p:cNvPr>
          <p:cNvSpPr>
            <a:spLocks noGrp="1"/>
          </p:cNvSpPr>
          <p:nvPr/>
        </p:nvSpPr>
        <p:spPr>
          <a:xfrm>
            <a:off x="0" y="14962"/>
            <a:ext cx="12192000" cy="99337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55C20BDE-02AD-2F2B-1151-ABE4559C114F}"/>
              </a:ext>
            </a:extLst>
          </p:cNvPr>
          <p:cNvSpPr>
            <a:spLocks noGrp="1"/>
          </p:cNvSpPr>
          <p:nvPr/>
        </p:nvSpPr>
        <p:spPr>
          <a:xfrm>
            <a:off x="9258300" y="-828848"/>
            <a:ext cx="4000500" cy="3476798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2C4D7F41-4151-1A1D-EE32-1D488E717DC1}"/>
              </a:ext>
            </a:extLst>
          </p:cNvPr>
          <p:cNvSpPr>
            <a:spLocks noGrp="1"/>
          </p:cNvSpPr>
          <p:nvPr/>
        </p:nvSpPr>
        <p:spPr>
          <a:xfrm>
            <a:off x="10058400" y="-406978"/>
            <a:ext cx="2857500" cy="2483427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BAB2AA-95B1-796A-A1A9-0BB467D5035E}"/>
              </a:ext>
            </a:extLst>
          </p:cNvPr>
          <p:cNvSpPr>
            <a:spLocks noGrp="1"/>
          </p:cNvSpPr>
          <p:nvPr/>
        </p:nvSpPr>
        <p:spPr>
          <a:xfrm>
            <a:off x="685800" y="377812"/>
            <a:ext cx="3429000" cy="2317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PROJECT REVIEW-1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7869FD-59EB-5BC9-7230-458992619D04}"/>
              </a:ext>
            </a:extLst>
          </p:cNvPr>
          <p:cNvSpPr>
            <a:spLocks noGrp="1"/>
          </p:cNvSpPr>
          <p:nvPr/>
        </p:nvSpPr>
        <p:spPr>
          <a:xfrm>
            <a:off x="685800" y="739070"/>
            <a:ext cx="8763000" cy="4801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2700" b="1" dirty="0">
                <a:solidFill>
                  <a:srgbClr val="0B2D5C"/>
                </a:solidFill>
                <a:latin typeface="Aptos Display"/>
                <a:ea typeface="Aptos Display"/>
                <a:cs typeface="Aptos Display"/>
              </a:rPr>
              <a:t>Flow Chart </a:t>
            </a:r>
            <a:endParaRPr sz="2700" b="1" dirty="0">
              <a:solidFill>
                <a:srgbClr val="0B2D5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18F726-BDEB-A0DD-692A-A26D9927327C}"/>
              </a:ext>
            </a:extLst>
          </p:cNvPr>
          <p:cNvSpPr>
            <a:spLocks noGrp="1"/>
          </p:cNvSpPr>
          <p:nvPr/>
        </p:nvSpPr>
        <p:spPr>
          <a:xfrm>
            <a:off x="685800" y="1278256"/>
            <a:ext cx="800100" cy="45719"/>
          </a:xfrm>
          <a:prstGeom prst="rect">
            <a:avLst/>
          </a:prstGeom>
          <a:solidFill>
            <a:srgbClr val="00A6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ACF3D2-3E73-DADA-F1B9-257D36213D3B}"/>
              </a:ext>
            </a:extLst>
          </p:cNvPr>
          <p:cNvSpPr>
            <a:spLocks noGrp="1"/>
          </p:cNvSpPr>
          <p:nvPr/>
        </p:nvSpPr>
        <p:spPr>
          <a:xfrm>
            <a:off x="685800" y="2080260"/>
            <a:ext cx="4762500" cy="910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endParaRPr sz="135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95BF09-4F2E-BE39-2901-2AB69E552CD9}"/>
              </a:ext>
            </a:extLst>
          </p:cNvPr>
          <p:cNvSpPr>
            <a:spLocks noGrp="1"/>
          </p:cNvSpPr>
          <p:nvPr/>
        </p:nvSpPr>
        <p:spPr>
          <a:xfrm>
            <a:off x="7448550" y="4256532"/>
            <a:ext cx="1238250" cy="1821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endParaRPr sz="1200" b="1" dirty="0">
              <a:solidFill>
                <a:srgbClr val="0B2D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F97075-72D1-8C67-71B8-F8377195D875}"/>
              </a:ext>
            </a:extLst>
          </p:cNvPr>
          <p:cNvSpPr>
            <a:spLocks noGrp="1"/>
          </p:cNvSpPr>
          <p:nvPr/>
        </p:nvSpPr>
        <p:spPr>
          <a:xfrm>
            <a:off x="6705600" y="1599506"/>
            <a:ext cx="2095500" cy="2483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endParaRPr sz="1800" b="1" dirty="0">
              <a:solidFill>
                <a:srgbClr val="0B2D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454FFF-96A2-C7A2-02B2-6BDF5B7204B1}"/>
              </a:ext>
            </a:extLst>
          </p:cNvPr>
          <p:cNvSpPr>
            <a:spLocks noGrp="1"/>
          </p:cNvSpPr>
          <p:nvPr/>
        </p:nvSpPr>
        <p:spPr>
          <a:xfrm>
            <a:off x="685800" y="6392626"/>
            <a:ext cx="8572500" cy="1986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CD1CC6-9D18-8D30-8902-6881D2CCB860}"/>
              </a:ext>
            </a:extLst>
          </p:cNvPr>
          <p:cNvSpPr>
            <a:spLocks noGrp="1"/>
          </p:cNvSpPr>
          <p:nvPr/>
        </p:nvSpPr>
        <p:spPr>
          <a:xfrm>
            <a:off x="11049000" y="6326400"/>
            <a:ext cx="457200" cy="2648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A5CAC1-FA90-4C9B-06AE-FFB6546A3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198" y="266700"/>
            <a:ext cx="5067603" cy="65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3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F76440AD-31CD-4F36-8331-52386A4CC884}"/>
              </a:ext>
            </a:extLst>
          </p:cNvPr>
          <p:cNvSpPr>
            <a:spLocks noGrp="1"/>
          </p:cNvSpPr>
          <p:nvPr/>
        </p:nvSpPr>
        <p:spPr>
          <a:xfrm>
            <a:off x="-933450" y="-929640"/>
            <a:ext cx="12531090" cy="685800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2A7796-E587-4641-937E-E9F5AB6A6C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C5A57AA0-AE01-4DA3-A7E3-8EAE70797A5D}"/>
              </a:ext>
            </a:extLst>
          </p:cNvPr>
          <p:cNvSpPr>
            <a:spLocks noGrp="1"/>
          </p:cNvSpPr>
          <p:nvPr/>
        </p:nvSpPr>
        <p:spPr>
          <a:xfrm>
            <a:off x="9258300" y="-1352550"/>
            <a:ext cx="4000500" cy="4000500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597FDA6E-2496-4550-97C5-0ADF8EEF3FCE}"/>
              </a:ext>
            </a:extLst>
          </p:cNvPr>
          <p:cNvSpPr>
            <a:spLocks noGrp="1"/>
          </p:cNvSpPr>
          <p:nvPr/>
        </p:nvSpPr>
        <p:spPr>
          <a:xfrm>
            <a:off x="10058400" y="-781050"/>
            <a:ext cx="2857500" cy="2857500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B16CC4-117B-43AE-A399-D43E7E94F009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1769E0"/>
                </a:solidFill>
                <a:latin typeface="Aptos"/>
                <a:ea typeface="Aptos"/>
                <a:cs typeface="Aptos"/>
              </a:rPr>
              <a:t>PROJECT REVIEW-1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BC76C4-4A34-493A-97CE-5B9ED7DE502E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rPr>
              <a:t>Feasibility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B78D2-F78B-411D-854A-68718C94A250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800100" cy="38100"/>
          </a:xfrm>
          <a:prstGeom prst="rect">
            <a:avLst/>
          </a:prstGeom>
          <a:solidFill>
            <a:srgbClr val="00A6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20A782-CABF-4F39-BCAF-567CFDD4854B}"/>
              </a:ext>
            </a:extLst>
          </p:cNvPr>
          <p:cNvSpPr>
            <a:spLocks noGrp="1"/>
          </p:cNvSpPr>
          <p:nvPr/>
        </p:nvSpPr>
        <p:spPr>
          <a:xfrm>
            <a:off x="733425" y="1636395"/>
            <a:ext cx="3333750" cy="1910716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B2D8D9-879B-4338-82C3-B70F3A861712}"/>
              </a:ext>
            </a:extLst>
          </p:cNvPr>
          <p:cNvSpPr>
            <a:spLocks noGrp="1"/>
          </p:cNvSpPr>
          <p:nvPr/>
        </p:nvSpPr>
        <p:spPr>
          <a:xfrm>
            <a:off x="876300" y="18669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0600" y="1981200"/>
            <a:ext cx="228600" cy="228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327F5A7-3841-4020-90C9-C09AA600362F}"/>
              </a:ext>
            </a:extLst>
          </p:cNvPr>
          <p:cNvSpPr>
            <a:spLocks noGrp="1"/>
          </p:cNvSpPr>
          <p:nvPr/>
        </p:nvSpPr>
        <p:spPr>
          <a:xfrm>
            <a:off x="1485900" y="1847850"/>
            <a:ext cx="2324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B2D5C"/>
                </a:solidFill>
                <a:latin typeface="Aptos"/>
                <a:ea typeface="Aptos"/>
                <a:cs typeface="Aptos"/>
              </a:rPr>
              <a:t>Hardware</a:t>
            </a:r>
            <a:r>
              <a:rPr lang="en-IN" sz="1575" b="1" dirty="0">
                <a:solidFill>
                  <a:srgbClr val="0B2D5C"/>
                </a:solidFill>
                <a:latin typeface="Aptos"/>
                <a:ea typeface="Aptos"/>
                <a:cs typeface="Aptos"/>
              </a:rPr>
              <a:t> requirement</a:t>
            </a:r>
            <a:endParaRPr sz="1575" b="1" dirty="0">
              <a:solidFill>
                <a:srgbClr val="0B2D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528D73-F98D-4003-A37F-0B6E9FD13FC9}"/>
              </a:ext>
            </a:extLst>
          </p:cNvPr>
          <p:cNvSpPr>
            <a:spLocks noGrp="1"/>
          </p:cNvSpPr>
          <p:nvPr/>
        </p:nvSpPr>
        <p:spPr>
          <a:xfrm>
            <a:off x="1485900" y="2228850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Laptop</a:t>
            </a:r>
            <a:r>
              <a:rPr lang="en-IN" sz="140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- 16GB RAM,mult-core </a:t>
            </a:r>
            <a:r>
              <a:rPr lang="en-IN"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CPU.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lang="en-IN" sz="140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Windows11 OS</a:t>
            </a:r>
            <a:endParaRPr sz="140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Cloud/server environment if deployed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2FE238-2A76-4502-933A-FCFB506844C5}"/>
              </a:ext>
            </a:extLst>
          </p:cNvPr>
          <p:cNvSpPr>
            <a:spLocks noGrp="1"/>
          </p:cNvSpPr>
          <p:nvPr/>
        </p:nvSpPr>
        <p:spPr>
          <a:xfrm>
            <a:off x="4438650" y="1676400"/>
            <a:ext cx="3333750" cy="187071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5959AD-0CA4-47D6-ADF1-EA3B89834391}"/>
              </a:ext>
            </a:extLst>
          </p:cNvPr>
          <p:cNvSpPr>
            <a:spLocks noGrp="1"/>
          </p:cNvSpPr>
          <p:nvPr/>
        </p:nvSpPr>
        <p:spPr>
          <a:xfrm>
            <a:off x="4629150" y="18669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Graphic 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743450" y="1981200"/>
            <a:ext cx="228600" cy="228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639928-9117-46F4-8948-562C35BBCC72}"/>
              </a:ext>
            </a:extLst>
          </p:cNvPr>
          <p:cNvSpPr>
            <a:spLocks noGrp="1"/>
          </p:cNvSpPr>
          <p:nvPr/>
        </p:nvSpPr>
        <p:spPr>
          <a:xfrm>
            <a:off x="5238750" y="1847850"/>
            <a:ext cx="2324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B2D5C"/>
                </a:solidFill>
                <a:latin typeface="Aptos"/>
                <a:ea typeface="Aptos"/>
                <a:cs typeface="Aptos"/>
              </a:rPr>
              <a:t>Software</a:t>
            </a:r>
            <a:r>
              <a:rPr lang="en-IN" sz="1575" b="1" dirty="0">
                <a:solidFill>
                  <a:srgbClr val="0B2D5C"/>
                </a:solidFill>
                <a:latin typeface="Aptos"/>
                <a:ea typeface="Aptos"/>
                <a:cs typeface="Aptos"/>
              </a:rPr>
              <a:t> requirement</a:t>
            </a:r>
            <a:endParaRPr sz="1575" b="1" dirty="0">
              <a:solidFill>
                <a:srgbClr val="0B2D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B746ED-B467-449B-8215-FACA9A949F9F}"/>
              </a:ext>
            </a:extLst>
          </p:cNvPr>
          <p:cNvSpPr>
            <a:spLocks noGrp="1"/>
          </p:cNvSpPr>
          <p:nvPr/>
        </p:nvSpPr>
        <p:spPr>
          <a:xfrm>
            <a:off x="5238750" y="2228850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285750" indent="-285750" algn="l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Language: Java / Python </a:t>
            </a:r>
            <a:r>
              <a:rPr lang="en-IN"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3.11</a:t>
            </a: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/ Node.js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IDE: VS Code / IntelliJ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Framework: Spring Boot / Fast API </a:t>
            </a:r>
            <a:r>
              <a:rPr lang="en-IN"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,Express</a:t>
            </a:r>
            <a:endParaRPr sz="140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1700D3-73BD-42FC-8ED3-9BA60907F7FC}"/>
              </a:ext>
            </a:extLst>
          </p:cNvPr>
          <p:cNvSpPr>
            <a:spLocks noGrp="1"/>
          </p:cNvSpPr>
          <p:nvPr/>
        </p:nvSpPr>
        <p:spPr>
          <a:xfrm>
            <a:off x="8191500" y="1676400"/>
            <a:ext cx="3333750" cy="187071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1B77F0-9F51-4EC4-8E8A-E0CD3A32A89A}"/>
              </a:ext>
            </a:extLst>
          </p:cNvPr>
          <p:cNvSpPr>
            <a:spLocks noGrp="1"/>
          </p:cNvSpPr>
          <p:nvPr/>
        </p:nvSpPr>
        <p:spPr>
          <a:xfrm>
            <a:off x="8382000" y="186690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496300" y="1981200"/>
            <a:ext cx="228600" cy="2286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8D39867-D4EF-4E69-9484-7819B36C2545}"/>
              </a:ext>
            </a:extLst>
          </p:cNvPr>
          <p:cNvSpPr>
            <a:spLocks noGrp="1"/>
          </p:cNvSpPr>
          <p:nvPr/>
        </p:nvSpPr>
        <p:spPr>
          <a:xfrm>
            <a:off x="8991600" y="1847850"/>
            <a:ext cx="2324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Storage &amp; APIs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A722F3-8041-4C27-9000-282EC8B0DC8D}"/>
              </a:ext>
            </a:extLst>
          </p:cNvPr>
          <p:cNvSpPr>
            <a:spLocks noGrp="1"/>
          </p:cNvSpPr>
          <p:nvPr/>
        </p:nvSpPr>
        <p:spPr>
          <a:xfrm>
            <a:off x="8991600" y="2228850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marL="285750" indent="-285750" algn="l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PostgreSQL + MongoDB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REST APIs with JWT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Testing: Postman</a:t>
            </a:r>
            <a:r>
              <a:rPr lang="en-IN"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(v11.0)</a:t>
            </a:r>
            <a:r>
              <a:rPr lang="en-IN" sz="140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,</a:t>
            </a: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Swagger</a:t>
            </a:r>
            <a:r>
              <a:rPr lang="en-IN"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 (</a:t>
            </a:r>
            <a:r>
              <a:rPr lang="en-IN" sz="140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Open Api 3.1)</a:t>
            </a:r>
            <a:endParaRPr sz="140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953F0CB-6343-44E1-9318-E2D6BF9A721A}"/>
              </a:ext>
            </a:extLst>
          </p:cNvPr>
          <p:cNvSpPr>
            <a:spLocks noGrp="1"/>
          </p:cNvSpPr>
          <p:nvPr/>
        </p:nvSpPr>
        <p:spPr>
          <a:xfrm>
            <a:off x="1524000" y="3905250"/>
            <a:ext cx="9144000" cy="1047750"/>
          </a:xfrm>
          <a:prstGeom prst="roundRect">
            <a:avLst>
              <a:gd name="adj" fmla="val 7273"/>
            </a:avLst>
          </a:prstGeom>
          <a:solidFill>
            <a:srgbClr val="EEF7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905000" y="4248150"/>
            <a:ext cx="361950" cy="3619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479F9FB-F813-42CF-B8F2-719CAB1F603F}"/>
              </a:ext>
            </a:extLst>
          </p:cNvPr>
          <p:cNvSpPr>
            <a:spLocks noGrp="1"/>
          </p:cNvSpPr>
          <p:nvPr/>
        </p:nvSpPr>
        <p:spPr>
          <a:xfrm>
            <a:off x="2495550" y="4095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Dataset Requirement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7A28EE-A437-4F91-8828-CFCBA03C24BA}"/>
              </a:ext>
            </a:extLst>
          </p:cNvPr>
          <p:cNvSpPr>
            <a:spLocks noGrp="1"/>
          </p:cNvSpPr>
          <p:nvPr/>
        </p:nvSpPr>
        <p:spPr>
          <a:xfrm>
            <a:off x="2495550" y="4457700"/>
            <a:ext cx="733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Synthetic or public financial transaction dataset with customer, account, transaction, and risk/reporting fields.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0A51F6-6859-40A4-A83C-8AE46298881F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4ED7E4-65C7-4D8D-B6F8-6039629DB238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2055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67BE19D-3757-47AA-8F67-42C963D9528F}"/>
              </a:ext>
            </a:extLst>
          </p:cNvPr>
          <p:cNvSpPr>
            <a:spLocks noGrp="1"/>
          </p:cNvSpPr>
          <p:nvPr/>
        </p:nvSpPr>
        <p:spPr>
          <a:xfrm>
            <a:off x="485775" y="22860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lang="en-IN" sz="975" b="1" dirty="0">
                <a:solidFill>
                  <a:srgbClr val="1769E0"/>
                </a:solidFill>
                <a:latin typeface="Aptos"/>
                <a:ea typeface="Aptos"/>
                <a:cs typeface="Aptos"/>
              </a:rPr>
              <a:t>PROJECT REVIEW-1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7D9EF3-A4B3-4A54-84DD-2DF39942BD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34B0BE32-9398-4D20-AF75-A3454642DC5B}"/>
              </a:ext>
            </a:extLst>
          </p:cNvPr>
          <p:cNvSpPr>
            <a:spLocks noGrp="1"/>
          </p:cNvSpPr>
          <p:nvPr/>
        </p:nvSpPr>
        <p:spPr>
          <a:xfrm>
            <a:off x="9258300" y="-1352550"/>
            <a:ext cx="4000500" cy="4000500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91247EE7-2335-4A30-9572-58B549C70537}"/>
              </a:ext>
            </a:extLst>
          </p:cNvPr>
          <p:cNvSpPr>
            <a:spLocks noGrp="1"/>
          </p:cNvSpPr>
          <p:nvPr/>
        </p:nvSpPr>
        <p:spPr>
          <a:xfrm>
            <a:off x="10058400" y="-781050"/>
            <a:ext cx="2857500" cy="2857500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F44FAD-CE37-44CD-93B5-E8C893DB4CF4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1769E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3F680A-75F7-45FC-B15F-8392B609F9C7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dirty="0">
                <a:solidFill>
                  <a:srgbClr val="0B2D5C"/>
                </a:solidFill>
                <a:latin typeface="Aptos Display"/>
                <a:ea typeface="Aptos Display"/>
                <a:cs typeface="Aptos Display"/>
              </a:rPr>
              <a:t>Novelty &amp; Future Scope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B2FEE6-500C-44C3-A30A-7F6AD5B44CB2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800100" cy="38100"/>
          </a:xfrm>
          <a:prstGeom prst="rect">
            <a:avLst/>
          </a:prstGeom>
          <a:solidFill>
            <a:srgbClr val="00A6D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9126E6-777B-4BB7-8B7A-B9929857F28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3219450" cy="18859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D63219F-1BEA-4039-91A8-1A85C69B68B7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Graphic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0600" y="2000250"/>
            <a:ext cx="228600" cy="2286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D9206C7-E288-49AB-8247-7E12F8A876D0}"/>
              </a:ext>
            </a:extLst>
          </p:cNvPr>
          <p:cNvSpPr>
            <a:spLocks noGrp="1"/>
          </p:cNvSpPr>
          <p:nvPr/>
        </p:nvSpPr>
        <p:spPr>
          <a:xfrm>
            <a:off x="1485900" y="1866900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What makes it unique?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2BCD7-DF5C-40F3-9694-390D52316CAD}"/>
              </a:ext>
            </a:extLst>
          </p:cNvPr>
          <p:cNvSpPr>
            <a:spLocks noGrp="1"/>
          </p:cNvSpPr>
          <p:nvPr/>
        </p:nvSpPr>
        <p:spPr>
          <a:xfrm>
            <a:off x="1485900" y="2495550"/>
            <a:ext cx="2209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Uses polyglot engineering: PostgreSQL for banking records and MongoDB for flexible analytics data.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44C883-F33A-42ED-8E92-B54CBC317E34}"/>
              </a:ext>
            </a:extLst>
          </p:cNvPr>
          <p:cNvSpPr>
            <a:spLocks noGrp="1"/>
          </p:cNvSpPr>
          <p:nvPr/>
        </p:nvSpPr>
        <p:spPr>
          <a:xfrm>
            <a:off x="4476750" y="1695450"/>
            <a:ext cx="3219450" cy="18859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3236E9-FF1A-4677-8673-8309BEF5169B}"/>
              </a:ext>
            </a:extLst>
          </p:cNvPr>
          <p:cNvSpPr>
            <a:spLocks noGrp="1"/>
          </p:cNvSpPr>
          <p:nvPr/>
        </p:nvSpPr>
        <p:spPr>
          <a:xfrm>
            <a:off x="4667250" y="18859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Graphic 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781550" y="2000250"/>
            <a:ext cx="228600" cy="2286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8CE2826-616D-43F6-A971-578CC6B76FD0}"/>
              </a:ext>
            </a:extLst>
          </p:cNvPr>
          <p:cNvSpPr>
            <a:spLocks noGrp="1"/>
          </p:cNvSpPr>
          <p:nvPr/>
        </p:nvSpPr>
        <p:spPr>
          <a:xfrm>
            <a:off x="5276850" y="1866900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Compared to existing solutions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666637-2D5D-46CB-BBEC-E92BE82D88E2}"/>
              </a:ext>
            </a:extLst>
          </p:cNvPr>
          <p:cNvSpPr>
            <a:spLocks noGrp="1"/>
          </p:cNvSpPr>
          <p:nvPr/>
        </p:nvSpPr>
        <p:spPr>
          <a:xfrm>
            <a:off x="5276850" y="2457450"/>
            <a:ext cx="2209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Traditional systems focus on storage; this adds secure APIs, analytics, and distributed backend design.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F17F8F-7757-4AFD-A362-9C1F6F535E92}"/>
              </a:ext>
            </a:extLst>
          </p:cNvPr>
          <p:cNvSpPr>
            <a:spLocks noGrp="1"/>
          </p:cNvSpPr>
          <p:nvPr/>
        </p:nvSpPr>
        <p:spPr>
          <a:xfrm>
            <a:off x="8334375" y="1743074"/>
            <a:ext cx="3219450" cy="1838325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F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3FF44FE-AB48-497F-8828-2AE31AA987DE}"/>
              </a:ext>
            </a:extLst>
          </p:cNvPr>
          <p:cNvSpPr>
            <a:spLocks noGrp="1"/>
          </p:cNvSpPr>
          <p:nvPr/>
        </p:nvSpPr>
        <p:spPr>
          <a:xfrm>
            <a:off x="8458200" y="1885950"/>
            <a:ext cx="457200" cy="457200"/>
          </a:xfrm>
          <a:prstGeom prst="roundRect">
            <a:avLst>
              <a:gd name="adj" fmla="val 12500"/>
            </a:avLst>
          </a:prstGeom>
          <a:solidFill>
            <a:srgbClr val="EAF4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572500" y="2000250"/>
            <a:ext cx="228600" cy="2286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E936DA5-E631-4E9E-AD0A-C567278DD3C9}"/>
              </a:ext>
            </a:extLst>
          </p:cNvPr>
          <p:cNvSpPr>
            <a:spLocks noGrp="1"/>
          </p:cNvSpPr>
          <p:nvPr/>
        </p:nvSpPr>
        <p:spPr>
          <a:xfrm>
            <a:off x="9067800" y="18669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D5C"/>
                </a:solidFill>
                <a:latin typeface="Aptos"/>
                <a:ea typeface="Aptos"/>
                <a:cs typeface="Aptos"/>
              </a:rPr>
              <a:t>Key innovation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3125AF-93E4-4097-9844-FF3691A9C987}"/>
              </a:ext>
            </a:extLst>
          </p:cNvPr>
          <p:cNvSpPr>
            <a:spLocks noGrp="1"/>
          </p:cNvSpPr>
          <p:nvPr/>
        </p:nvSpPr>
        <p:spPr>
          <a:xfrm>
            <a:off x="9067800" y="2247900"/>
            <a:ext cx="2209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Combines JWT authentication, transaction processing, financial analytics, and deployment-ready services.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E12C80-A49F-4075-9C44-3366D0F67DED}"/>
              </a:ext>
            </a:extLst>
          </p:cNvPr>
          <p:cNvSpPr>
            <a:spLocks noGrp="1"/>
          </p:cNvSpPr>
          <p:nvPr/>
        </p:nvSpPr>
        <p:spPr>
          <a:xfrm>
            <a:off x="1714500" y="4038600"/>
            <a:ext cx="8763000" cy="1047750"/>
          </a:xfrm>
          <a:prstGeom prst="roundRect">
            <a:avLst>
              <a:gd name="adj" fmla="val 7273"/>
            </a:avLst>
          </a:prstGeom>
          <a:solidFill>
            <a:srgbClr val="0B2D5C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2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133600" y="4305300"/>
            <a:ext cx="323850" cy="32385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A22D79D-E780-4735-ADF5-AC36E3E2E4EB}"/>
              </a:ext>
            </a:extLst>
          </p:cNvPr>
          <p:cNvSpPr>
            <a:spLocks noGrp="1"/>
          </p:cNvSpPr>
          <p:nvPr/>
        </p:nvSpPr>
        <p:spPr>
          <a:xfrm>
            <a:off x="2724150" y="41719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710EA7-EA07-436D-AEEA-6D30933993B5}"/>
              </a:ext>
            </a:extLst>
          </p:cNvPr>
          <p:cNvSpPr>
            <a:spLocks noGrp="1"/>
          </p:cNvSpPr>
          <p:nvPr/>
        </p:nvSpPr>
        <p:spPr>
          <a:xfrm>
            <a:off x="2724150" y="4533900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6FF"/>
                </a:solidFill>
                <a:latin typeface="Aptos"/>
                <a:ea typeface="Aptos"/>
                <a:cs typeface="Aptos"/>
              </a:rPr>
              <a:t>Fraud detection models, live risk scoring, role-wise dashboards, cloud scaling, and regulatory reporting.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32B6C8-3AB9-4C01-8A13-57228316CAB5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10E05F-DBBD-4EE2-8ED3-9224AE925DB6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1511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A9D0AF-DD27-5936-00A7-524A27FA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BD5692C-99A6-0585-2A89-0090454B38A7}"/>
              </a:ext>
            </a:extLst>
          </p:cNvPr>
          <p:cNvSpPr>
            <a:spLocks noGrp="1"/>
          </p:cNvSpPr>
          <p:nvPr/>
        </p:nvSpPr>
        <p:spPr>
          <a:xfrm>
            <a:off x="76200" y="-494211"/>
            <a:ext cx="12192000" cy="6858000"/>
          </a:xfrm>
          <a:prstGeom prst="rect">
            <a:avLst/>
          </a:prstGeom>
          <a:solidFill>
            <a:srgbClr val="F7FBFF"/>
          </a:solidFill>
          <a:ln w="0">
            <a:noFill/>
            <a:prstDash val="solid"/>
          </a:ln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A4F21-7DA4-F4D3-617A-E0DC14812B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B490A475-7BCD-1555-FE5E-6F44F64E565F}"/>
              </a:ext>
            </a:extLst>
          </p:cNvPr>
          <p:cNvSpPr>
            <a:spLocks noGrp="1"/>
          </p:cNvSpPr>
          <p:nvPr/>
        </p:nvSpPr>
        <p:spPr>
          <a:xfrm>
            <a:off x="9258300" y="-1352550"/>
            <a:ext cx="4000500" cy="4000500"/>
          </a:xfrm>
          <a:prstGeom prst="arc">
            <a:avLst/>
          </a:prstGeom>
          <a:solidFill>
            <a:srgbClr val="D9EE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248CD203-04CA-BDC1-FCCB-3BA24F9240E7}"/>
              </a:ext>
            </a:extLst>
          </p:cNvPr>
          <p:cNvSpPr>
            <a:spLocks noGrp="1"/>
          </p:cNvSpPr>
          <p:nvPr/>
        </p:nvSpPr>
        <p:spPr>
          <a:xfrm>
            <a:off x="10058400" y="-781050"/>
            <a:ext cx="2857500" cy="2857500"/>
          </a:xfrm>
          <a:prstGeom prst="arc">
            <a:avLst/>
          </a:prstGeom>
          <a:solidFill>
            <a:srgbClr val="BFE3FF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33BACB-B739-4B0A-F4DD-B0FE7719661B}"/>
              </a:ext>
            </a:extLst>
          </p:cNvPr>
          <p:cNvSpPr>
            <a:spLocks noGrp="1"/>
          </p:cNvSpPr>
          <p:nvPr/>
        </p:nvSpPr>
        <p:spPr>
          <a:xfrm>
            <a:off x="685800" y="3429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endParaRPr sz="975" b="1" dirty="0">
              <a:solidFill>
                <a:srgbClr val="1769E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2EA12B-D9AE-6D00-1A01-75433307AD65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8763000" cy="32559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00" b="1">
                <a:solidFill>
                  <a:srgbClr val="0B2D5C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6600" b="1" dirty="0">
                <a:solidFill>
                  <a:srgbClr val="0B2D5C"/>
                </a:solidFill>
                <a:latin typeface="Aptos Display"/>
                <a:ea typeface="Aptos Display"/>
                <a:cs typeface="Aptos Display"/>
              </a:rPr>
              <a:t>                                                Thankyou</a:t>
            </a:r>
            <a:endParaRPr sz="2700" b="1" dirty="0">
              <a:solidFill>
                <a:srgbClr val="0B2D5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242250-AC12-0126-F642-0BB1AC34FEDA}"/>
              </a:ext>
            </a:extLst>
          </p:cNvPr>
          <p:cNvSpPr>
            <a:spLocks noGrp="1"/>
          </p:cNvSpPr>
          <p:nvPr/>
        </p:nvSpPr>
        <p:spPr>
          <a:xfrm>
            <a:off x="1485900" y="1866900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endParaRPr sz="1575" b="1" dirty="0">
              <a:solidFill>
                <a:srgbClr val="0B2D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69896F-8022-F2CA-4ECE-64E0A467A61E}"/>
              </a:ext>
            </a:extLst>
          </p:cNvPr>
          <p:cNvSpPr>
            <a:spLocks noGrp="1"/>
          </p:cNvSpPr>
          <p:nvPr/>
        </p:nvSpPr>
        <p:spPr>
          <a:xfrm>
            <a:off x="1485900" y="2495550"/>
            <a:ext cx="22098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endParaRPr sz="140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B14511-E5EA-47EB-24F8-1859751DB479}"/>
              </a:ext>
            </a:extLst>
          </p:cNvPr>
          <p:cNvSpPr>
            <a:spLocks noGrp="1"/>
          </p:cNvSpPr>
          <p:nvPr/>
        </p:nvSpPr>
        <p:spPr>
          <a:xfrm>
            <a:off x="5276850" y="1866900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endParaRPr sz="1575" b="1" dirty="0">
              <a:solidFill>
                <a:srgbClr val="0B2D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8229BE-38AA-0DC6-523D-BF2A91A5F0D1}"/>
              </a:ext>
            </a:extLst>
          </p:cNvPr>
          <p:cNvSpPr>
            <a:spLocks noGrp="1"/>
          </p:cNvSpPr>
          <p:nvPr/>
        </p:nvSpPr>
        <p:spPr>
          <a:xfrm>
            <a:off x="5276850" y="2457450"/>
            <a:ext cx="2209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endParaRPr sz="140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9D5A7D-FE8D-6CDA-F043-3A149028AA12}"/>
              </a:ext>
            </a:extLst>
          </p:cNvPr>
          <p:cNvSpPr>
            <a:spLocks noGrp="1"/>
          </p:cNvSpPr>
          <p:nvPr/>
        </p:nvSpPr>
        <p:spPr>
          <a:xfrm>
            <a:off x="9067800" y="186690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1">
                <a:solidFill>
                  <a:srgbClr val="0B2D5C"/>
                </a:solidFill>
                <a:latin typeface="Aptos"/>
                <a:ea typeface="Aptos"/>
                <a:cs typeface="Aptos"/>
              </a:defRPr>
            </a:pPr>
            <a:endParaRPr sz="1575" b="1" dirty="0">
              <a:solidFill>
                <a:srgbClr val="0B2D5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761678-CE04-50CE-6A6E-0F3901DEC055}"/>
              </a:ext>
            </a:extLst>
          </p:cNvPr>
          <p:cNvSpPr>
            <a:spLocks noGrp="1"/>
          </p:cNvSpPr>
          <p:nvPr/>
        </p:nvSpPr>
        <p:spPr>
          <a:xfrm>
            <a:off x="9067800" y="2247900"/>
            <a:ext cx="22098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endParaRPr sz="1400" b="0" dirty="0">
              <a:solidFill>
                <a:srgbClr val="33415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088D4A-606E-227C-2112-ED49DC3C3CC9}"/>
              </a:ext>
            </a:extLst>
          </p:cNvPr>
          <p:cNvSpPr>
            <a:spLocks noGrp="1"/>
          </p:cNvSpPr>
          <p:nvPr/>
        </p:nvSpPr>
        <p:spPr>
          <a:xfrm>
            <a:off x="2724150" y="41719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8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E59AF4-AEF4-51AB-E02C-3507557D77C2}"/>
              </a:ext>
            </a:extLst>
          </p:cNvPr>
          <p:cNvSpPr>
            <a:spLocks noGrp="1"/>
          </p:cNvSpPr>
          <p:nvPr/>
        </p:nvSpPr>
        <p:spPr>
          <a:xfrm>
            <a:off x="2724150" y="4533900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EAF6FF"/>
                </a:solidFill>
                <a:latin typeface="Aptos"/>
                <a:ea typeface="Aptos"/>
                <a:cs typeface="Aptos"/>
              </a:defRPr>
            </a:pPr>
            <a:endParaRPr sz="1350" b="0" dirty="0">
              <a:solidFill>
                <a:srgbClr val="EAF6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DB6E7F-A2E8-55B4-F774-2EC2CFFF3B2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endParaRPr sz="900" b="0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6BD552-DDBD-A67A-3CB4-0E7B144E2FE3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78124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599</Words>
  <Application>Microsoft Office PowerPoint</Application>
  <DocSecurity>0</DocSecurity>
  <PresentationFormat>Widescreen</PresentationFormat>
  <Paragraphs>143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Kavitha Jinugu</cp:lastModifiedBy>
  <cp:revision>8</cp:revision>
  <dcterms:created xsi:type="dcterms:W3CDTF">2026-07-31T14:14:52Z</dcterms:created>
  <dcterms:modified xsi:type="dcterms:W3CDTF">2026-08-03T09:22:25Z</dcterms:modified>
</cp:coreProperties>
</file>