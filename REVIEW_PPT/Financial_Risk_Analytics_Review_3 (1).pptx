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441c3f8de44ee" /><Relationship Type="http://schemas.openxmlformats.org/officeDocument/2006/relationships/extended-properties" Target="/docProps/app.xml" Id="Rcdfa5a3e94504071" /><Relationship Type="http://schemas.openxmlformats.org/officeDocument/2006/relationships/officeDocument" Target="/ppt/presentation.xml" Id="R5c69166d358543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d754df57ac408d"/>
  </p:sldMasterIdLst>
  <p:notesMasterIdLst>
    <p:notesMasterId xmlns:r="http://schemas.openxmlformats.org/officeDocument/2006/relationships" r:id="R78b31250531d4794"/>
  </p:notesMasterIdLst>
  <p:sldIdLst>
    <p:sldId xmlns:r="http://schemas.openxmlformats.org/officeDocument/2006/relationships" id="256" r:id="R67a93c68ba794042"/>
    <p:sldId xmlns:r="http://schemas.openxmlformats.org/officeDocument/2006/relationships" id="257" r:id="Re0b3ff771b5d414f"/>
    <p:sldId xmlns:r="http://schemas.openxmlformats.org/officeDocument/2006/relationships" id="258" r:id="Ra3620ab5ab9c40dd"/>
    <p:sldId xmlns:r="http://schemas.openxmlformats.org/officeDocument/2006/relationships" id="259" r:id="Rfc85a8199aa54ed0"/>
    <p:sldId xmlns:r="http://schemas.openxmlformats.org/officeDocument/2006/relationships" id="260" r:id="R82322cf4f27047cd"/>
    <p:sldId xmlns:r="http://schemas.openxmlformats.org/officeDocument/2006/relationships" id="261" r:id="R334c044ed5a441c4"/>
    <p:sldId xmlns:r="http://schemas.openxmlformats.org/officeDocument/2006/relationships" id="262" r:id="Rd7454521ae6d42a2"/>
    <p:sldId xmlns:r="http://schemas.openxmlformats.org/officeDocument/2006/relationships" id="263" r:id="R4519bb872e0e4ffa"/>
    <p:sldId xmlns:r="http://schemas.openxmlformats.org/officeDocument/2006/relationships" id="264" r:id="Ra775114c8fd24fe0"/>
    <p:sldId xmlns:r="http://schemas.openxmlformats.org/officeDocument/2006/relationships" id="265" r:id="R7f125b8717ca4587"/>
    <p:sldId xmlns:r="http://schemas.openxmlformats.org/officeDocument/2006/relationships" id="266" r:id="R9343eea09d334575"/>
    <p:sldId xmlns:r="http://schemas.openxmlformats.org/officeDocument/2006/relationships" id="267" r:id="Rdea06b43de944de9"/>
    <p:sldId xmlns:r="http://schemas.openxmlformats.org/officeDocument/2006/relationships" id="268" r:id="Rb3e49c48bfea43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83515a13bf4c8b" /><Relationship Type="http://schemas.openxmlformats.org/officeDocument/2006/relationships/slideMaster" Target="/ppt/slideMasters/slideMaster1.xml" Id="Rc6d754df57ac408d" /><Relationship Type="http://schemas.openxmlformats.org/officeDocument/2006/relationships/notesMaster" Target="/ppt/notesMasters/notesMaster1.xml" Id="R78b31250531d4794" /><Relationship Type="http://schemas.openxmlformats.org/officeDocument/2006/relationships/presProps" Target="/ppt/presProps.xml" Id="R1184c3825462493c" /><Relationship Type="http://schemas.openxmlformats.org/officeDocument/2006/relationships/tableStyles" Target="/ppt/tableStyles.xml" Id="R621b7e68bcbf4f49" /><Relationship Type="http://schemas.openxmlformats.org/officeDocument/2006/relationships/slide" Target="/ppt/slides/slide1.xml" Id="R67a93c68ba794042" /><Relationship Type="http://schemas.openxmlformats.org/officeDocument/2006/relationships/slide" Target="/ppt/slides/slide2.xml" Id="Re0b3ff771b5d414f" /><Relationship Type="http://schemas.openxmlformats.org/officeDocument/2006/relationships/slide" Target="/ppt/slides/slide3.xml" Id="Ra3620ab5ab9c40dd" /><Relationship Type="http://schemas.openxmlformats.org/officeDocument/2006/relationships/slide" Target="/ppt/slides/slide4.xml" Id="Rfc85a8199aa54ed0" /><Relationship Type="http://schemas.openxmlformats.org/officeDocument/2006/relationships/slide" Target="/ppt/slides/slide5.xml" Id="R82322cf4f27047cd" /><Relationship Type="http://schemas.openxmlformats.org/officeDocument/2006/relationships/slide" Target="/ppt/slides/slide6.xml" Id="R334c044ed5a441c4" /><Relationship Type="http://schemas.openxmlformats.org/officeDocument/2006/relationships/slide" Target="/ppt/slides/slide7.xml" Id="Rd7454521ae6d42a2" /><Relationship Type="http://schemas.openxmlformats.org/officeDocument/2006/relationships/slide" Target="/ppt/slides/slide8.xml" Id="R4519bb872e0e4ffa" /><Relationship Type="http://schemas.openxmlformats.org/officeDocument/2006/relationships/slide" Target="/ppt/slides/slide9.xml" Id="Ra775114c8fd24fe0" /><Relationship Type="http://schemas.openxmlformats.org/officeDocument/2006/relationships/slide" Target="/ppt/slides/slide10.xml" Id="R7f125b8717ca4587" /><Relationship Type="http://schemas.openxmlformats.org/officeDocument/2006/relationships/slide" Target="/ppt/slides/slide11.xml" Id="R9343eea09d334575" /><Relationship Type="http://schemas.openxmlformats.org/officeDocument/2006/relationships/slide" Target="/ppt/slides/slide12.xml" Id="Rdea06b43de944de9" /><Relationship Type="http://schemas.openxmlformats.org/officeDocument/2006/relationships/slide" Target="/ppt/slides/slide13.xml" Id="Rb3e49c48bfea43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a4896c218b44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3a71d62e8e42c6" /><Relationship Type="http://schemas.openxmlformats.org/officeDocument/2006/relationships/notesMaster" Target="/ppt/notesMasters/notesMaster1.xml" Id="R7a1741a8a6da47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84be86a08f4b6e" /><Relationship Type="http://schemas.openxmlformats.org/officeDocument/2006/relationships/notesMaster" Target="/ppt/notesMasters/notesMaster1.xml" Id="Radc842d1a8a544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a5c59d8bf74504" /><Relationship Type="http://schemas.openxmlformats.org/officeDocument/2006/relationships/notesMaster" Target="/ppt/notesMasters/notesMaster1.xml" Id="Rae19355930a646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430951d15a4c69" /><Relationship Type="http://schemas.openxmlformats.org/officeDocument/2006/relationships/notesMaster" Target="/ppt/notesMasters/notesMaster1.xml" Id="Rad00ff7ea24c4d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969fb93b40462b" /><Relationship Type="http://schemas.openxmlformats.org/officeDocument/2006/relationships/notesMaster" Target="/ppt/notesMasters/notesMaster1.xml" Id="Re8007a3f723e4a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a51de08c4b49c8" /><Relationship Type="http://schemas.openxmlformats.org/officeDocument/2006/relationships/notesMaster" Target="/ppt/notesMasters/notesMaster1.xml" Id="Rce503ce4234a4c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810a5ff30943b7" /><Relationship Type="http://schemas.openxmlformats.org/officeDocument/2006/relationships/notesMaster" Target="/ppt/notesMasters/notesMaster1.xml" Id="R5b39350b079a41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9679f387344e43" /><Relationship Type="http://schemas.openxmlformats.org/officeDocument/2006/relationships/notesMaster" Target="/ppt/notesMasters/notesMaster1.xml" Id="R3f67c35f976943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1e5a4676374852" /><Relationship Type="http://schemas.openxmlformats.org/officeDocument/2006/relationships/notesMaster" Target="/ppt/notesMasters/notesMaster1.xml" Id="R3ac31ce102de43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2fe378641d4a8e" /><Relationship Type="http://schemas.openxmlformats.org/officeDocument/2006/relationships/notesMaster" Target="/ppt/notesMasters/notesMaster1.xml" Id="R968b7cdcee7a4d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167d0758f1441e" /><Relationship Type="http://schemas.openxmlformats.org/officeDocument/2006/relationships/notesMaster" Target="/ppt/notesMasters/notesMaster1.xml" Id="R75d9143c700d40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844cb27f0241d8" /><Relationship Type="http://schemas.openxmlformats.org/officeDocument/2006/relationships/notesMaster" Target="/ppt/notesMasters/notesMaster1.xml" Id="Reedae4087c1f41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8bb5b7fc364578" /><Relationship Type="http://schemas.openxmlformats.org/officeDocument/2006/relationships/notesMaster" Target="/ppt/notesMasters/notesMaster1.xml" Id="Ra3235bc0e5c541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Review 1 and Project Review 2 supplied by the team. Review 1 and 2 state the proposed system and methodology; they do not provide implementation screenshots, code, test outputs, or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5c9eb5bb6040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2ea5d94dd4b6e" /><Relationship Type="http://schemas.openxmlformats.org/officeDocument/2006/relationships/slideLayout" Target="/ppt/slideLayouts/slideLayout1.xml" Id="Rc4601adb6f6a45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601adb6f6a45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7a9e0555d42d0" /><Relationship Type="http://schemas.openxmlformats.org/officeDocument/2006/relationships/notesSlide" Target="/ppt/notesSlides/notesSlide1.xml" Id="Rcd49c540bd064d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8bb02cffa4147" /><Relationship Type="http://schemas.openxmlformats.org/officeDocument/2006/relationships/notesSlide" Target="/ppt/notesSlides/notesSlide2.xml" Id="R771ad5702f5f46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c87542cb947a0" /><Relationship Type="http://schemas.openxmlformats.org/officeDocument/2006/relationships/notesSlide" Target="/ppt/notesSlides/notesSlide3.xml" Id="R2328454010b5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cf93df5464dd7" /><Relationship Type="http://schemas.openxmlformats.org/officeDocument/2006/relationships/notesSlide" Target="/ppt/notesSlides/notesSlide4.xml" Id="R03ca74e109224b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976fe77884bdd" /><Relationship Type="http://schemas.openxmlformats.org/officeDocument/2006/relationships/notesSlide" Target="/ppt/notesSlides/notesSlide5.xml" Id="Ra9afc06b5d6a4c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111f46d304387" /><Relationship Type="http://schemas.openxmlformats.org/officeDocument/2006/relationships/notesSlide" Target="/ppt/notesSlides/notesSlide6.xml" Id="R1d0f997b6d4041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a83c959c64edd" /><Relationship Type="http://schemas.openxmlformats.org/officeDocument/2006/relationships/notesSlide" Target="/ppt/notesSlides/notesSlide7.xml" Id="R6f8597e1c84f4c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b4682e8f14b43" /><Relationship Type="http://schemas.openxmlformats.org/officeDocument/2006/relationships/notesSlide" Target="/ppt/notesSlides/notesSlide8.xml" Id="Rc07ca2ee5dea4e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5c009bc7a4614" /><Relationship Type="http://schemas.openxmlformats.org/officeDocument/2006/relationships/notesSlide" Target="/ppt/notesSlides/notesSlide9.xml" Id="Rcdd901e390454c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3afaaa617447c" /><Relationship Type="http://schemas.openxmlformats.org/officeDocument/2006/relationships/notesSlide" Target="/ppt/notesSlides/notesSlide10.xml" Id="Rfc091b8af72a49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2e7905727413c" /><Relationship Type="http://schemas.openxmlformats.org/officeDocument/2006/relationships/notesSlide" Target="/ppt/notesSlides/notesSlide11.xml" Id="Rdca4d88783834a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b94574cca4fec" /><Relationship Type="http://schemas.openxmlformats.org/officeDocument/2006/relationships/notesSlide" Target="/ppt/notesSlides/notesSlide12.xml" Id="R63a13925bcfe4d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a0a8f6e5447af" /><Relationship Type="http://schemas.openxmlformats.org/officeDocument/2006/relationships/notesSlide" Target="/ppt/notesSlides/notesSlide13.xml" Id="R7c2e28932e0c4d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80CA9-E79A-4F71-81A7-B80DB891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5BF2F-E82B-4BD2-85F8-286EC2FE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FINANCIAL RISK</a:t>
            </a:r>
          </a:p>
          <a:p xmlns:a="http://schemas.openxmlformats.org/drawingml/2006/main">
            <a:pPr>
              <a:defRPr sz="36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34664-107D-45D6-86FB-FF2360E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51F2A"/>
                </a:solidFill>
                <a:latin typeface="Arial"/>
                <a:ea typeface="Arial"/>
                <a:cs typeface="Arial"/>
              </a:rPr>
              <a:t>with Polyglot Data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BB75A-49D6-48E2-BFCF-3AFD5413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3905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7C37B-C935-4FC7-BCC1-DFCFDC5B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PROJECT REVIEW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0D29F-B01C-41DB-BA33-0CEF0C52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Methodology Development &amp; Intermediate Progress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0E9D7-4F22-4C13-8552-C52D0EBD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590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Course: 25CS1302E – DBE &amp; DSD  |  Project 6</a:t>
            </a:r>
          </a:p>
          <a:p xmlns:a="http://schemas.openxmlformats.org/drawingml/2006/main">
            <a:pPr>
              <a:defRPr sz="135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Group 16: Utkalika · Divya Sri · Ambika · Kavitha</a:t>
            </a:r>
          </a:p>
          <a:p xmlns:a="http://schemas.openxmlformats.org/drawingml/2006/main">
            <a:pPr>
              <a:defRPr sz="135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Supervisor: Melinda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71E0E-F4C6-447B-B6B8-B827BEC2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81125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D172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500A3-EB45-4A91-AACE-793CD3A1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811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F990E-38F9-4673-A737-98760B0C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4290F-1233-4E52-9AE2-D197A43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24175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CE3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3E9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defRPr sz="1425" b="0">
                <a:solidFill>
                  <a:srgbClr val="DCE3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3E9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>
              <a:defRPr sz="1425" b="0">
                <a:solidFill>
                  <a:srgbClr val="DCE3E9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CE3E9"/>
                </a:solidFill>
                <a:latin typeface="Arial"/>
                <a:ea typeface="Arial"/>
                <a:cs typeface="Arial"/>
              </a:rPr>
              <a:t>JWT-secured APIs</a:t>
            </a:r>
          </a:p>
        </p:txBody>
      </p:sp>
    </p:spTree>
    <p:extLst>
      <p:ext uri="{BB962C8B-B14F-4D97-AF65-F5344CB8AC3E}">
        <p14:creationId xmlns:p14="http://schemas.microsoft.com/office/powerpoint/2010/main" val="213099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E5B65-8FC5-4A1C-AC2C-D20126F6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73AAD-AB95-4261-A2AC-A3CBCD29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02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9A585-12AE-4A12-A08A-3896661D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Review continuity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EF2D0-248E-4F2F-BCE0-FB79784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carries the proposed architecture into an evidence-based implementation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A8D88-D832-4260-B7C8-E34EE8B7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6405ED-9589-4BCC-913F-E3907B4D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30BF4-35F9-4CF0-BDBD-3DE56A1C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AAE41-3B55-4455-B2F0-4EFBB984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3238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03993-92ED-4A83-AE02-C852DAE2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D7F0B-7046-479C-98AA-A507E439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57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REVIEW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44C5A-10AE-4611-9961-56D6A44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28384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Problem definition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Project objectives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Proposed modules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Initial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821C8-1C01-4D18-8D4A-496DBBFC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3238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4CBD2-5C47-422F-899C-9EEFBEC9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66875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0131E-F4A5-4DC0-B272-98BE0105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57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REVIEW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C70A9-704E-48AA-87DD-00459272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28384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Literature synthesis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Research gap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Workload-based database roles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Refined methodology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C619F2-49D4-4E3A-9483-ADB0191C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66875"/>
            <a:ext cx="32385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86C27B-EBAC-4B71-B996-23C401B7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666875"/>
            <a:ext cx="571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D68F2-F8F0-4ADD-857A-3E58644F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573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B23C"/>
                </a:solidFill>
                <a:latin typeface="Arial"/>
                <a:ea typeface="Arial"/>
                <a:cs typeface="Arial"/>
              </a:rPr>
              <a:t>REVIEW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7809B3-1585-42FA-9738-CB20ED2B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57425"/>
            <a:ext cx="28384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Methodology workflow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Implementation evidence status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Intermediate outcomes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Evaluation and next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61A4F-9ADD-451B-9110-69E166E6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This deck retains the earlier scope. It does not claim a completed module or measured result unless the supplied reviews establish it.</a:t>
            </a:r>
          </a:p>
        </p:txBody>
      </p:sp>
    </p:spTree>
    <p:extLst>
      <p:ext uri="{BB962C8B-B14F-4D97-AF65-F5344CB8AC3E}">
        <p14:creationId xmlns:p14="http://schemas.microsoft.com/office/powerpoint/2010/main" val="186147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1E825-6DBA-4BEC-9324-AC29012F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EC965-B527-4435-8F61-7FF3DF90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03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F1F12-4895-4B3D-AF7D-20FE334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Research gap and project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43E578-0DA7-48B9-BDF0-7F379BC3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16460-61F3-47CA-A197-DFDEDA4F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C1024E-239F-4EC6-AA54-D6397EFC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32AB4-1B06-4C45-BAD7-BE5B09D9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literature identifies strong but separate work on risk models and data storage. The project joins them in one controlled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F7E24-BC20-4684-B0EB-7A5B4E53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75AFD7-9ED0-4197-95AA-FA0B925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76D4B-2D09-4C09-A7A3-A2594346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LITERATURE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928EB-CA26-48D9-AEAB-86A15BC9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4457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Risk studies emphasize model performance. Polyglot studies emphasize storage selection. Few studies connect transaction integrity, flexible analytics storage, secure APIs, and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9CA54-8F79-4BC7-A60C-563A48C8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72A17-4387-4610-A328-F0D072B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043BD3-A019-4ABA-93EC-358B5493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71B32-6CAC-4FC9-93E4-50622D30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43200"/>
            <a:ext cx="4457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A DBMS-centered financial-risk platform: PostgreSQL for structured core records, MongoDB for flexible analytics data, validation services, JWT-secured REST APIs, and risk reporting.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26FB9-4105-4E72-A8B6-482AAE6F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B79"/>
                </a:solidFill>
                <a:latin typeface="Arial"/>
                <a:ea typeface="Arial"/>
                <a:cs typeface="Arial"/>
              </a:rPr>
              <a:t>Contribution boundary: integrated system workflow, not a claim of a new machine-learning algorithm.</a:t>
            </a:r>
          </a:p>
        </p:txBody>
      </p:sp>
    </p:spTree>
    <p:extLst>
      <p:ext uri="{BB962C8B-B14F-4D97-AF65-F5344CB8AC3E}">
        <p14:creationId xmlns:p14="http://schemas.microsoft.com/office/powerpoint/2010/main" val="19535495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14DB1E-5E4B-4E1D-ABDC-69343E5B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CC385-DB07-4569-AD6E-8B84BE5C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04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438CC-F010-48BC-A654-DCD8A1F0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Methodology and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1D475-1A59-4569-A96C-9AD7DE2F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The proposed flow follows the Review 2 methodology and architecture.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EE3BC-534A-467D-BA18-45E2897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F3256F-BC78-4A96-98B9-4605004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CFD442-29DC-4CE2-B3C4-AAFFC23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147CD-0F58-48F1-AD3F-6EE01409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371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3E41D-ED73-42A5-91B7-D0C93517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Customer / account /</a:t>
            </a:r>
          </a:p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transaction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FDE77-AF6F-45B7-B554-B3FF43D2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670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E0248-F7E9-4BB9-B362-BE6808AB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24125"/>
            <a:ext cx="1371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C7F202-94C9-44DA-B56E-ACEB1715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0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Validation</a:t>
            </a:r>
          </a:p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constraints &amp;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0D200-B14F-4791-ADB4-138ED340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670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D972A-44B5-4D5D-8817-E86266EE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24125"/>
            <a:ext cx="1371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2C291-61FA-46C0-8C2C-7CD67D8E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00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core 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E77CE3-6E70-483B-A424-12F4D777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670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B629C-9372-4FEE-BC2B-23F7881F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24125"/>
            <a:ext cx="1371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AACAC-84BC-4B8A-BF58-8F6626A0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MongoDB</a:t>
            </a:r>
          </a:p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analytics documents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92B7B-A97F-428E-ADA2-F570670B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670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CCFA14-A6BF-4E7A-9422-7597B39D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24125"/>
            <a:ext cx="1371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2E8D98-2D81-490F-98C6-CFD29CED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Risk features</a:t>
            </a:r>
          </a:p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and indicators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A12160-F242-4B32-ABE1-4F6E6B0D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670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20DDF-DD58-4651-8AB7-D77B3D10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1371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82B99B-557A-4DCF-8112-297E6B3D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00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JWT-secured</a:t>
            </a:r>
          </a:p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REST APIs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DE2525-130E-4839-9816-64F4F5FE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67025"/>
            <a:ext cx="171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89C6A3-9EAB-438B-8B7C-4F0B005D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24125"/>
            <a:ext cx="1371600" cy="108585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A9FDE-BDA2-49F8-B744-FCAE8366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0035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Reports / alerts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0C6FC2-5721-4D73-B868-FDCA0DAC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Role separation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CDEB70-151D-4563-B94F-8D265D18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PostgreSQL holds relational banking records and supports transaction consistency. MongoDB holds flexible, document-oriented analytics structures where schema evolution helps.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6624FC-C319-4BB2-9024-78541644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Status: proposed workflow from Review 2. The supplied decks do not confirm a deployed end-to-end run.</a:t>
            </a:r>
          </a:p>
        </p:txBody>
      </p:sp>
    </p:spTree>
    <p:extLst>
      <p:ext uri="{BB962C8B-B14F-4D97-AF65-F5344CB8AC3E}">
        <p14:creationId xmlns:p14="http://schemas.microsoft.com/office/powerpoint/2010/main" val="13208274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19C70D-F1E1-4A02-8A99-13C6443E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86B99-6A38-48AA-9EF7-E354BA6B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05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4C382-5644-45B2-8625-83B27A96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Proposed modules and Review 3 evidence standard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19D33-D796-4194-B207-DCA84B51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1 defined five modules. Review 3 requires evidence that at least half are working.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D4788-311D-4600-A3AF-4CD76F4D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D3CAEE-0900-4144-A455-8BE2228B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3E62F-CA24-41BF-85F8-1FA087BE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F1A0F-03BC-49E1-9B52-1974AA2E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97C33-52CE-417E-AFBD-656A0BF5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88316-0083-44B6-BBAA-A29482BE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0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Customer &amp; account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09C3E-26B8-4593-B3F6-D2F99316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859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Profiles, accounts, balances, relationships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0DC13-875D-46E3-9CB3-CBD98F1C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E2900-FCC4-49CD-BA0A-47A2CFBB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7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491D9-1857-4ED0-8C8D-110E3AC0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6687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Evidence 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EBFC0B-783C-443B-9927-41CF4887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Demo, test output, screenshot, API response, or repository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4292E-A5DA-494B-930D-1D26AA30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DD8FB-2E93-47C8-B1A1-C561F41C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14D196-9D48-463D-AB2C-4DB82184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Transaction 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15E92-6F6E-420B-9E2E-04ED2860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813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Deposits, withdrawals, transfers, logs, updates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923A0-3632-4F39-A29E-5D0F5106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98433-0406-46A8-81D6-93459D22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193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72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B0FFF-CCB3-49C5-9EC1-914400C8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Evidence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666AE-3593-452F-AFCF-6C33BAB7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194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Demo, test output, screenshot, API response, or repository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79CC3B-C2FA-4FE2-9CF4-1F1AE536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2FFDFF-B510-41BB-8E10-F768C83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84C6D-6795-4EB7-AA51-EC0B2465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REST APIs with JWT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171013-1973-4CA6-B8F2-BB16851A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Authenticated access to customer, admin, transaction, and report endpoints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4BE254-D4C3-4537-8721-E7C65EE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CE5114-675A-439C-945F-15509C2E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72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5111BC-F673-45C4-87B7-2262A629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5757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Evidence required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CF8D75-C828-4C34-9152-4AA5F0BD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Demo, test output, screenshot, API response, or repository trace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398033-535F-487B-ACDF-81F5B973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B37F06-FA8C-4F5B-ADEB-CCC5D1E0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2F0ABC-9B2F-4337-B621-D665F454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Financial analytics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FB3820-594B-43ED-A055-3987C8C3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Transaction patterns, risk signals, summaries, reports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613D42-3825-4483-9713-329A4EC7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F67199-3351-427F-8E1F-B5CBFF71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72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467407-EC4B-4731-A6B2-AC406A49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529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Evidence required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919F49-B35B-4785-991C-10ADB709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101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Demo, test output, screenshot, API response, or repository trace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E5B615-64F2-4094-A13D-4C9435E5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A1FFEA-151B-4612-8C6E-1D46EC19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1E6D06-C962-40FF-9E8B-E80A0B7D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816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Deployment, testing &amp; documentation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C6E2AE-7E16-48D5-8953-8247BD84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Test cases, documentation, deployment readiness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F73746-6AD2-49AA-85AC-3FF90B2E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333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31E7A1-492C-479D-9E2C-CFC28F06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72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975CB4C-B9C6-4599-8954-57F787A4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24827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Evidence required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92AD27-89A3-4A0F-B8C8-14E6C8F7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054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Demo, test output, screenshot, API response, or repository trace</a:t>
            </a:r>
          </a:p>
        </p:txBody>
      </p:sp>
    </p:spTree>
    <p:extLst>
      <p:ext uri="{BB962C8B-B14F-4D97-AF65-F5344CB8AC3E}">
        <p14:creationId xmlns:p14="http://schemas.microsoft.com/office/powerpoint/2010/main" val="16152795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6BC6A0-647A-40B4-87C7-A555A650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541BA-931B-461F-A731-77366146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06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9E55B-315E-45F8-B141-D64BDE6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Verified implementation status from supplied material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5B8D9-9ECC-42C7-8088-36E51C2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Evidence available in the two source decks: proposed design and methodology. Evidence not available: proof of implemented modules.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80D9F-1AFE-4189-9755-E9A841A2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34FB6-3C30-4246-BC07-7A052BCF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37433-F2F4-4952-813F-302ACB1D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95CE2-C606-408E-A8FF-164E167B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57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0D3A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555A7-C025-4FEB-AEE1-5FB7EB25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Customer &amp; account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2B682-3F27-445A-8E14-D58A01C2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43075"/>
            <a:ext cx="2305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Not established by Review 1 / Review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3C29D-AE28-4244-B19A-4CB47387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657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0D3A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7F4EB8-3F3B-40A3-93B5-E4AF5533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Transaction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D84B8-0CAC-4F82-A238-64077A50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2305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Not established by Review 1 / Review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558C9-2A8F-4481-B1F3-1F34C0A7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657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0D3A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90968-8C29-4680-B420-72F84C33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REST APIs with JWT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03225-9399-4CA5-BF6F-3F107CC0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24225"/>
            <a:ext cx="2305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Not established by Review 1 / Review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69C56-0EA5-47E2-8EA2-D970D908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657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0D3A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BAF21-75BF-45F2-8E83-D514742F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Financial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28AA2-A189-4BB4-BA56-C228D305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2305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Not established by Review 1 / Review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26785-07B1-4DA0-B09B-D95DEB29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6572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0D3A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858032-CC9E-491B-B46F-265D6E30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95850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Deployment, testing &amp; documentation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44B9E-67C6-4F96-8166-EB2E6016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05375"/>
            <a:ext cx="2305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Not established by Review 1 / Review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A62CD-9C85-4F25-963A-4A7F65EF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429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684A9-669F-42B1-8C1E-8E35B1F8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72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BE8160-41FA-4389-93D8-A4310637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05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WHAT THE REVIEW CAN 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6E8BC0-07A1-4170-A6F6-224C8AEB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0289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architecture, module plan, database role assignment, evaluation approach, and research rationale are established. The team should add demonstrable artefacts before presenting module completion.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A715E9-BFAF-419F-B457-FC880830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A “completed” label would need traceable implementation evidence. No such evidence appears in the supplied Review 1 or Review 2 decks.</a:t>
            </a:r>
          </a:p>
        </p:txBody>
      </p:sp>
    </p:spTree>
    <p:extLst>
      <p:ext uri="{BB962C8B-B14F-4D97-AF65-F5344CB8AC3E}">
        <p14:creationId xmlns:p14="http://schemas.microsoft.com/office/powerpoint/2010/main" val="17404819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5D1268-4515-4AFD-8053-22B6D410F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93BFF-7ADE-4BF1-9A74-9E53854C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07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258D5-FE6B-4738-A7BB-E6FE7A86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Intermediate results: evidence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4C124-D680-4348-8306-6068F813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The previous reviews do not provide quantitative outputs or verified runtime results.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CD54A-1903-4F8D-8A3C-C468A5FF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31BA2-6F0F-4820-A061-720CD224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8B097-FA27-475C-83C4-E6BA5D2E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0E8FB-A46A-4ACA-A187-0D25DFA6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218430-105B-470C-BEC1-E3F74CA7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228CB-C1BF-4045-AFA0-E4A2961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ESTABLISHED INTERMEDIATE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736C5-4CAC-41F6-B207-42776BF0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45529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Clear workload mapping for PostgreSQL and MongoDB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Defined secure API and JWT boundary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End-to-end data-to-report workflow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Evaluation criteria beyond accuracy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Documented research gap and limitations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D9884-759C-4C77-AF1E-A8964CC8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C55D4C-84BD-4D49-9DCE-26E41810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97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7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7A186B-3451-44DC-A975-4263B579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RESULTS STILL TO DEMONSTRATE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C5C64-4EB3-4B57-80F0-F6F5D272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45529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CRUD and transaction test results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JWT authentication and authorization responses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PostgreSQL–MongoDB integration run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Risk-indicator outputs or analytics summaries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• Error handling and report/alert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11336A-D06F-491B-ACF8-8346A1BA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These are planned demonstration artefacts, not reported findings from the source decks.</a:t>
            </a:r>
          </a:p>
        </p:txBody>
      </p:sp>
    </p:spTree>
    <p:extLst>
      <p:ext uri="{BB962C8B-B14F-4D97-AF65-F5344CB8AC3E}">
        <p14:creationId xmlns:p14="http://schemas.microsoft.com/office/powerpoint/2010/main" val="1786623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7EF1EB-F219-40B7-9958-2290BDFF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36D4C-69B6-46F5-AC78-4D77DE73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08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37675-71C1-4482-93E1-58A02D6C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Demonstration sequence for completed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6BA90-789A-492B-8A48-CD90BD7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Use this sequence once implementation artefacts are available. It turns the proposed workflow into reviewable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B5B8D-238A-4C9D-A0CD-D06C223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C295F-1CA5-47C6-9BEB-EF5F0865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14284-5314-47E2-AB47-97D2BB9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CC807-9F7A-4E9F-AAAA-B70ED48F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866900" cy="22288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2633D-E2E8-46AD-9A08-9846A3D8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866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7DAF8-F6A1-42CC-B5FA-D91E2975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57375-D815-4A48-B147-190F123E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Authenticate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DEC11-0AD8-42E6-8EF5-36E58455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Show login and JWT issuance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485DF-0363-4086-9CD1-0EF4F9E0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914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DA505-7E8D-4953-9279-9A8A3514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76450"/>
            <a:ext cx="1866900" cy="22288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FEE08-B191-4D00-9F21-150A14C5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76450"/>
            <a:ext cx="1866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A9530-9A7F-4FE2-BC9A-76EE6E92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907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9AAF15-E675-4B95-B49A-EDD2DDD3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Create core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1F7113-216E-4A5B-8654-589DD0E5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19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Show customer/account record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835A5-CEFE-4B2A-9466-93F4CE3F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0E066-1D75-4B69-B061-E24913A5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1866900" cy="22288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84A9E-2D2D-4C3E-B5DD-63D1B1F8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1866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162B8-F8A4-4316-BE96-4D65F7C2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1907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21C93-D038-4AE6-BAEB-03030DE0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81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Process transaction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263541-84E3-4F80-8D8B-1BEFE0FC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19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Show persisted transaction and balance update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EB14A-70EA-43AC-9D0C-EDE2C200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14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16E8F3-80EB-488A-B211-5DC05405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866900" cy="22288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F1FEF5-32C8-44F3-9128-5E57C825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76450"/>
            <a:ext cx="1866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B5A731-0AE7-47C4-A5CE-DE5A031B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907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19C978-272B-405D-9F48-0040C0B4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Sync analytics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086995-ECC4-4EC7-AABF-7C0E9201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Show relevant document in MongoDB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3066E-AD1A-4371-8F33-EFBC3D59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14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E165F6-D215-4F3A-928D-F23FFABA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76450"/>
            <a:ext cx="1866900" cy="222885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A6FF2C-864D-4078-9669-2D945248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76450"/>
            <a:ext cx="1866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3F976-F0D2-44E2-BF1D-5B0D7B93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06A8E9-E1B1-4299-80D4-CDC07C83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Generate risk output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F42A12-4985-4000-92FF-73F902DE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Show rule/feature summary through a secure endpoint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6F669F-6D92-41D2-A16B-641F9657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Suggested evidence per step: timestamped screenshot, API request/response, database query/output, and a short test result.</a:t>
            </a:r>
          </a:p>
        </p:txBody>
      </p:sp>
    </p:spTree>
    <p:extLst>
      <p:ext uri="{BB962C8B-B14F-4D97-AF65-F5344CB8AC3E}">
        <p14:creationId xmlns:p14="http://schemas.microsoft.com/office/powerpoint/2010/main" val="17409781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6F0170-A8E9-429B-921E-EA0478B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84EB2-F921-4FF5-8F8E-1419EE42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09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AFEC3-7FEB-43FE-AB9D-1D936885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Current evaluation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87C52-11F6-4BD7-98CD-3524840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2 defined evaluation measures. This review retains them as the criteria for the implementation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184AA-5B00-49D1-BCDD-6772F073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D3F9A-F69D-4C5F-87B5-7780D86E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FB3E5-1F8F-45E8-9EA1-482A9DE8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CAE9F-E9D0-463D-9049-1E64BA14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9D645-A063-4625-930B-9CE01C2E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D446E-9919-4AB2-BAEE-22C0A140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DATABASE AND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423A8-8EDC-468C-9A17-F39A38A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28384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Data integrity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CRUD correctness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Transaction consistency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API response behavior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PostgreSQL–MongoDB integration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Authentication and authorization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8DB77-710E-4FC0-B515-6ED75113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B8DF3-7D30-4EA9-8716-826BCF9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4BE0A-2AB2-4AE0-9D0C-F598D9A5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RISK 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89D23-E333-49B9-9A5F-D91ED2A6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28384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Precision, recall, F1-score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Confusion matrix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False-positive and false-negative analysis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PR-AUC / ROC-AUC where appropriate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Interpretability of risk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548BD-408D-4904-A924-4D302C3B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3238500" cy="33337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D181D5-7E49-4A98-A093-89D452A9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57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3A40D-45BF-4623-8747-B8C51592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B23C"/>
                </a:solidFill>
                <a:latin typeface="Arial"/>
                <a:ea typeface="Arial"/>
                <a:cs typeface="Arial"/>
              </a:rPr>
              <a:t>RESEARCH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593B5-A3AF-43C1-B2D6-A79E57C1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52675"/>
            <a:ext cx="283845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Workload-based DB selection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End-to-end traceability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Storage-to-risk workflow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Practical trade-offs</a:t>
            </a:r>
          </a:p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Documented prototype limitations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958D3E-CAFC-421E-9176-A5BA5684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No metric values are reported because the supplied source decks define the plan but contain no measured evaluation outputs.</a:t>
            </a:r>
          </a:p>
        </p:txBody>
      </p:sp>
    </p:spTree>
    <p:extLst>
      <p:ext uri="{BB962C8B-B14F-4D97-AF65-F5344CB8AC3E}">
        <p14:creationId xmlns:p14="http://schemas.microsoft.com/office/powerpoint/2010/main" val="2093405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0AD9C7-4A85-4A07-B317-81336C6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95565-6F6E-4392-A4E0-C4372F68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10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3C5CF-7EA6-46E3-91FF-D9BEE1A5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Novelty and adaptability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637FD-A196-4FEE-A06A-8B45A95B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The project contribution lies in the way its layers work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E95A5-F707-431F-A1C3-22FC067E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18567-E0B3-45F9-ACB0-89636750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71EED-14AA-463A-91C7-07E7A152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BD6CB-5C1C-4744-A4F1-3E9142CA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2385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25DCFF-8ECE-4BDF-8355-040A1282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7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A60AE-5A2E-4E2B-84DC-6DC2871A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POLYGLOT ROLE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FAD75-306C-4FB2-9814-33A67CC7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838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PostgreSQL supports structured relationships, constraints, and transactional consistency. MongoDB supports flexible analytics documents and evolving schemas.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1A40E-F157-4FFA-B7D4-409106AE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2385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E4A00-CCF5-4B59-AD7C-59488634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57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10481-B3EE-4A81-B5BE-70541712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TRUSTED ACCESS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2C714-965B-4D79-82CE-D86D2E69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95550"/>
            <a:ext cx="2838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Validation, JWT-secured REST APIs, and controlled endpoints connect sensitive financial data to analytics and reporting.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3C0922-A8AE-4FD1-93E0-173F7889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3238500" cy="2686050"/>
          </a:xfrm>
          <a:prstGeom xmlns:a="http://schemas.openxmlformats.org/drawingml/2006/main" prst="roundRect">
            <a:avLst>
              <a:gd name="adj" fmla="val 283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6CBBE-E271-4FED-82D1-832CD6CE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57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37D80-9D2C-4F03-9C05-50F1B820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3B23C"/>
                </a:solidFill>
                <a:latin typeface="Arial"/>
                <a:ea typeface="Arial"/>
                <a:cs typeface="Arial"/>
              </a:rPr>
              <a:t>ADAPTABLE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12667-34B8-41A0-9449-86E73AAD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95550"/>
            <a:ext cx="28384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The risk layer can begin with rules and features, then extend to evaluated ML, explainability, dashboards, or real-time processing.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1BA72-B8F9-4B51-B9F9-143E9F2C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Adaptability means the storage and analytics layers can evolve with workload needs while preserving a controlled core-record system.</a:t>
            </a:r>
          </a:p>
        </p:txBody>
      </p:sp>
    </p:spTree>
    <p:extLst>
      <p:ext uri="{BB962C8B-B14F-4D97-AF65-F5344CB8AC3E}">
        <p14:creationId xmlns:p14="http://schemas.microsoft.com/office/powerpoint/2010/main" val="121362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B77C9A-3782-4A3A-B6C2-ACDAB590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DF0BB-0282-490A-930A-41D54542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11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03878-048F-4BF8-B4B5-C3D8533E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Review 3 readiness and required additions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C6C85-2F6A-4E71-9E3C-487596D9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Current document readiness is strong for methodology and evaluation design; implementation readiness needs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F13D1-6F84-4D95-A8D2-02156E74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3E18A-DB5D-494B-9CBE-E30183D3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1D1AD-AF84-4860-BA79-BFBF85DC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DB496-96AD-47DB-97A9-B75EC7F8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ADEE7-1BA8-4E8E-977D-D5F130A0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78D8C-C76A-4751-9DCA-A9F81020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9547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7D6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7D68"/>
                </a:solidFill>
                <a:latin typeface="Arial"/>
                <a:ea typeface="Arial"/>
                <a:cs typeface="Arial"/>
              </a:rPr>
              <a:t>Established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7A368-0741-4C71-8A24-2AC957EC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Problem, research gap, architecture, modules, methodology, and evaluation 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545E8-2315-4BBC-B670-B8E6881B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1271C-BC03-4577-A680-F44DEA13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87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49FD8F-B245-4CC3-B5CC-00457499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872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8726"/>
                </a:solidFill>
                <a:latin typeface="Arial"/>
                <a:ea typeface="Arial"/>
                <a:cs typeface="Arial"/>
              </a:rPr>
              <a:t>Needs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C1F88-9CF6-4C81-AB06-D70A61BE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At least three working modules, integration traces, intermediate outputs, and test observations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105BA-8973-4860-9A79-EE0B5700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048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D953C-823B-4E54-9FB3-7BB54424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52D2EF-9DD3-4E4F-91B1-4D29BF5B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52875"/>
            <a:ext cx="472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Do not claim yet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B23F1-920C-4933-AC43-EECA6F40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472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Final results, live risk accuracy, production scalability, regulatory deployment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6C531-17BB-44F0-9F36-885D083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46672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059431-1613-4113-BAF0-355D1C09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52600"/>
            <a:ext cx="571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43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433C6-58AE-4EF4-84FD-BCD084FB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431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PRESENTATION CHECKLIST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69F052-825B-4EAB-AB8F-E589BD69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43150"/>
            <a:ext cx="4267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2433"/>
                </a:solidFill>
                <a:latin typeface="Arial"/>
                <a:ea typeface="Arial"/>
                <a:cs typeface="Arial"/>
              </a:rPr>
              <a:t>Before the review, attach evidence for a minimum of three modules. Show both storage layers where applicable. Explain one observed outcome and one current limitation. Keep planned work clearly labelled.</a:t>
            </a:r>
          </a:p>
        </p:txBody>
      </p:sp>
    </p:spTree>
    <p:extLst>
      <p:ext uri="{BB962C8B-B14F-4D97-AF65-F5344CB8AC3E}">
        <p14:creationId xmlns:p14="http://schemas.microsoft.com/office/powerpoint/2010/main" val="1765730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0EE43-8695-4038-8D89-0FAA90FB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82F74-6020-461E-ADBC-D4F8F469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12  REVIEW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47126-2352-4BEC-91F9-CA2C31CF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FC81C-384B-4D25-B065-ED3413A7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The remaining work should convert the proposed workflow into a testable prototype and evidence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5F1B2-B628-4390-9BDA-D4F99283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28608-670A-455E-B92C-682B9C46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Financial Risk Analytics with Polyglot Data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48CE9-3ED4-48F3-924B-9C971F9C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43675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Review 3  | 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9D369-EC4C-44E1-A931-1E9A0868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71044-B18C-455A-97DC-8B56AA3E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CE323-CD32-4227-80C9-98E42943C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478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BC591-31CD-414A-9EBF-8E689D01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Complete core modules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DEA54-1862-42D4-AF14-A0FE1156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Prioritize customer/account, transaction processing, and JWT-secured APIs.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1F093-680C-476B-8E14-BCC2C6CA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671BBB-4F25-448B-9EC7-BA862A0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29B06-6D81-40CD-95EC-DF6F8253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860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0B651-05DA-46A9-896C-784B0A00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38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Integrate data stores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DE943F-A476-4A63-8C34-0C6F0660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4384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Persist core records in PostgreSQL and build the analytics-document path in MongoDB.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ADFE3-D771-4CA2-9921-589BE08F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2DBBA2-FD0F-4D14-B5A1-8776C523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B100B4-1413-4EDA-BD41-5B973D44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81765-C0C7-4ADE-B818-A512649D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76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Run controlled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8BA73-53F9-4EFD-B820-088EC604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766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Record API behavior, validation failures, transaction outcomes, and integration observations.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B83798-5971-4EBA-9AD6-455F4676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06A3F7-CF66-48A3-AFC1-52C14D29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5F643-B3DF-404D-AF69-ED1E642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C13EC0-02C1-41F9-A439-CF24291D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Demonstrate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21C6A8-E463-4E67-A442-4689BBF6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148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Expose risk indicators or summaries through secure endpoints and reports.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14C204-28C0-49A9-BD9C-620A8527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D7DCE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6F0E46-9179-4FA5-AEAF-7208DF13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47843C-E70B-4613-AD8C-F5D84D35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00625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51F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1F2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5E540-772A-445D-B7A6-6B5DB024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824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2433"/>
                </a:solidFill>
                <a:latin typeface="Arial"/>
                <a:ea typeface="Arial"/>
                <a:cs typeface="Arial"/>
              </a:rPr>
              <a:t>Evaluate and document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19F74-EABB-429E-804C-917D1DE9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5300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E6B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B79"/>
                </a:solidFill>
                <a:latin typeface="Arial"/>
                <a:ea typeface="Arial"/>
                <a:cs typeface="Arial"/>
              </a:rPr>
              <a:t>Apply the Review 2 criteria, record limitations, and prepare demonstrable artefacts.</a:t>
            </a:r>
          </a:p>
        </p:txBody>
      </p:sp>
    </p:spTree>
    <p:extLst>
      <p:ext uri="{BB962C8B-B14F-4D97-AF65-F5344CB8AC3E}">
        <p14:creationId xmlns:p14="http://schemas.microsoft.com/office/powerpoint/2010/main" val="7884112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7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A821B-4AAF-4BF4-BB12-EFDB41B1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1F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2612D-25EA-469C-920B-A98AD570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Financial Risk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C9D00-3363-443D-BFCF-E5C8E6B5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CE3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CE3E9"/>
                </a:solidFill>
                <a:latin typeface="Arial"/>
                <a:ea typeface="Arial"/>
                <a:cs typeface="Arial"/>
              </a:rPr>
              <a:t>with Polyglot Data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9F86E-9786-4AFD-B1FD-6D5CDE7E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23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71414-6865-4582-B925-3343B2C3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3: methodology, evidence, and the path to a demonstrable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E460E-0A4E-40CD-B474-5B56BD59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3B2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3B23C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71AB8-9120-46AB-A58B-6202A90D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2C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2CB"/>
                </a:solidFill>
                <a:latin typeface="Arial"/>
                <a:ea typeface="Arial"/>
                <a:cs typeface="Arial"/>
              </a:rPr>
              <a:t>Group 16  |  25CS1302E – DBE &amp; DSD  |  Project 6</a:t>
            </a:r>
          </a:p>
        </p:txBody>
      </p:sp>
    </p:spTree>
    <p:extLst>
      <p:ext uri="{BB962C8B-B14F-4D97-AF65-F5344CB8AC3E}">
        <p14:creationId xmlns:p14="http://schemas.microsoft.com/office/powerpoint/2010/main" val="1803682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2026-09-15T08:38:00.1790000Z</dcterms:created>
  <dcterms:modified xsi:type="dcterms:W3CDTF">2026-09-15T08:38:00.1790000Z</dcterms:modified>
</coreProperties>
</file>