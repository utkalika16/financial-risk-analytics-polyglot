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62" r:id="rId10"/>
    <p:sldId id="263" r:id="rId11"/>
    <p:sldId id="266" r:id="rId12"/>
    <p:sldId id="267" r:id="rId13"/>
    <p:sldId id="268" r:id="rId14"/>
    <p:sldId id="272" r:id="rId15"/>
  </p:sldIdLst>
  <p:sldSz cx="12192000" cy="6858000"/>
  <p:notesSz cx="6858000" cy="9144000"/>
  <p:embeddedFontLst>
    <p:embeddedFont>
      <p:font typeface="Inter"/>
      <p:italic r:id="rId16"/>
    </p:embeddedFon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tha Jinugu" userId="97b19fd399edc21a" providerId="LiveId" clId="{C36C8C81-C619-41F1-8A48-80D25C2D6C42}"/>
    <pc:docChg chg="modSld">
      <pc:chgData name="Kavitha Jinugu" userId="97b19fd399edc21a" providerId="LiveId" clId="{C36C8C81-C619-41F1-8A48-80D25C2D6C42}" dt="2026-10-06T05:24:14.379" v="0"/>
      <pc:docMkLst>
        <pc:docMk/>
      </pc:docMkLst>
      <pc:sldChg chg="delSp">
        <pc:chgData name="Kavitha Jinugu" userId="97b19fd399edc21a" providerId="LiveId" clId="{C36C8C81-C619-41F1-8A48-80D25C2D6C42}" dt="2026-10-06T05:24:14.379" v="0"/>
        <pc:sldMkLst>
          <pc:docMk/>
          <pc:sldMk cId="0" sldId="272"/>
        </pc:sldMkLst>
        <pc:spChg chg="del">
          <ac:chgData name="Kavitha Jinugu" userId="97b19fd399edc21a" providerId="LiveId" clId="{C36C8C81-C619-41F1-8A48-80D25C2D6C42}" dt="2026-10-06T05:24:14.379" v="0"/>
          <ac:spMkLst>
            <pc:docMk/>
            <pc:sldMk cId="0" sldId="272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5972175"/>
            <a:ext cx="112776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81000"/>
            <a:ext cx="2562225" cy="285750"/>
          </a:xfrm>
          <a:prstGeom prst="roundRect">
            <a:avLst>
              <a:gd name="adj" fmla="val 20000"/>
            </a:avLst>
          </a:prstGeom>
          <a:solidFill>
            <a:srgbClr val="13254B"/>
          </a:solidFill>
          <a:ln w="9525">
            <a:solidFill>
              <a:srgbClr val="274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972175"/>
            <a:ext cx="112776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13707"/>
            <a:ext cx="6538019" cy="963810"/>
          </a:xfrm>
          <a:prstGeom prst="rect">
            <a:avLst/>
          </a:prstGeom>
          <a:solidFill>
            <a:srgbClr val="93C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76219" y="2424112"/>
            <a:ext cx="4358580" cy="1790700"/>
          </a:xfrm>
          <a:prstGeom prst="roundRect">
            <a:avLst>
              <a:gd name="adj" fmla="val 6382"/>
            </a:avLst>
          </a:prstGeom>
          <a:solidFill>
            <a:srgbClr val="0F1729"/>
          </a:solidFill>
          <a:ln w="9525">
            <a:solidFill>
              <a:srgbClr val="163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909" y="2738437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809" y="2738437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709" y="2738437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1597" y="289083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1209" y="289083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5109" y="2890837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0550" y="438150"/>
            <a:ext cx="2390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0A5FA"/>
                </a:solidFill>
                <a:latin typeface="Inter"/>
              </a:rPr>
              <a:t>PBL REVIEW-4 • RESULTS &amp;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8425" y="442912"/>
            <a:ext cx="1845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ACADEMIC YEAR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37482"/>
            <a:ext cx="817252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COURSE: 25CS1302E – DBE &amp; DSD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13707"/>
            <a:ext cx="6964933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Financial Risk Analytics with Polyglot Data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29917"/>
            <a:ext cx="6000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Hybrid Relational &amp; NoSQL Architecture for Real-Time Financial Risk Assessment, High-Throughput Processing, and Secure REST API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619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PROJECT &amp;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15075"/>
            <a:ext cx="161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Project 6 • Group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3912" y="6172200"/>
            <a:ext cx="3155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3912" y="6315075"/>
            <a:ext cx="3155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Utkalika • Divya Sri • Ambika • Kavitha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9350" y="6172200"/>
            <a:ext cx="2119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FACULTY MENTOR &amp; DEPT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9350" y="6315075"/>
            <a:ext cx="2119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Melinda • Dept. of AI &amp; 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1428" y="3500437"/>
            <a:ext cx="494816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Polyglot Persistence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1428" y="3748087"/>
            <a:ext cx="494816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PostgreSQL (ACID) + MongoDB (Flex Docs)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72505"/>
            <a:ext cx="2705100" cy="1710332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14700" y="1472505"/>
            <a:ext cx="2705100" cy="1710332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1472505"/>
            <a:ext cx="2705100" cy="1710332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29700" y="1472505"/>
            <a:ext cx="2705100" cy="1710332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335238"/>
            <a:ext cx="2705100" cy="1537096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14700" y="3335238"/>
            <a:ext cx="2705100" cy="1537096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3335238"/>
            <a:ext cx="2705100" cy="1537096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29700" y="3335238"/>
            <a:ext cx="2705100" cy="1537096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173313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72505"/>
            <a:ext cx="27051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52775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4700" y="3173313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4700" y="1472505"/>
            <a:ext cx="27051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4700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10275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173313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472505"/>
            <a:ext cx="27051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7775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29700" y="3173313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29700" y="1472505"/>
            <a:ext cx="27051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29700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725275" y="1472505"/>
            <a:ext cx="9525" cy="17103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62810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35238"/>
            <a:ext cx="27051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52775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14700" y="4862810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14700" y="3335238"/>
            <a:ext cx="27051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14700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10275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862810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3335238"/>
            <a:ext cx="27051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67775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29700" y="4862810"/>
            <a:ext cx="2705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29700" y="3335238"/>
            <a:ext cx="27051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29700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725275" y="3335238"/>
            <a:ext cx="9525" cy="1537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701105"/>
            <a:ext cx="381000" cy="3810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1701105"/>
            <a:ext cx="381000" cy="3810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701105"/>
            <a:ext cx="381000" cy="3810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9725" y="1701105"/>
            <a:ext cx="381000" cy="3810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563838"/>
            <a:ext cx="381000" cy="3810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725" y="3563838"/>
            <a:ext cx="381000" cy="3810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3563838"/>
            <a:ext cx="381000" cy="3810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725" y="3563838"/>
            <a:ext cx="381000" cy="3810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805880"/>
            <a:ext cx="171450" cy="1714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5687" y="1805880"/>
            <a:ext cx="219075" cy="1714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6050" y="1805880"/>
            <a:ext cx="133350" cy="1714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10687" y="1805880"/>
            <a:ext cx="219075" cy="1714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3668613"/>
            <a:ext cx="152400" cy="1714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9500" y="3668613"/>
            <a:ext cx="171450" cy="1714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3668613"/>
            <a:ext cx="152400" cy="1714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10687" y="3668613"/>
            <a:ext cx="219075" cy="1714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CORE GOALS &amp; VISION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Architectural goals driving our dual-database financial risk analytics platform.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225" y="2196405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Structured Financial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225" y="2463105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Manage customer accounts, balances, and ledger transactions accurately.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4725" y="2196405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Transaction Integrity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4725" y="2463105"/>
            <a:ext cx="24003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Maintain strict ACID compliance for transactional ledger data in PostgreSQL.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2225" y="2196405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Flexible Risk Data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2225" y="2463105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Store complex, unstructured risk analytics in MongoDB documents.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9725" y="2196405"/>
            <a:ext cx="2962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Backend REST APIs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9725" y="2463105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Provide fast, standardized API endpoints using FastAPI architecture.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225" y="4059138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Secure Auth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225" y="4325838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Implement role-based access control and JWT token authentication.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4725" y="4059138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Risk Assessment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14725" y="4325838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Calculate live risk scores and evaluate anomaly indicators.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72225" y="4059138"/>
            <a:ext cx="30253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Reports &amp; Alerts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72225" y="4325838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Generate automated financial reports and high-risk flags.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9725" y="4059138"/>
            <a:ext cx="2962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Unified Platform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29725" y="4325838"/>
            <a:ext cx="2400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Seamlessly integrate web dashboard with polyglot backend data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82255"/>
            <a:ext cx="11277600" cy="923925"/>
          </a:xfrm>
          <a:prstGeom prst="roundRect">
            <a:avLst>
              <a:gd name="adj" fmla="val 12371"/>
            </a:avLst>
          </a:prstGeom>
          <a:solidFill>
            <a:srgbClr val="F0FAFA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4534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77430" y="14534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7660" y="14534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17891" y="14534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38121" y="14534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34750" y="2158305"/>
            <a:ext cx="19050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4440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7430" y="24440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97660" y="24440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17891" y="24440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38121" y="2444055"/>
            <a:ext cx="1996380" cy="5715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51561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880" y="1663005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10" y="1663005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341" y="1663005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571" y="1663005"/>
            <a:ext cx="952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880" y="2653605"/>
            <a:ext cx="952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8110" y="2653605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341" y="2653605"/>
            <a:ext cx="952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571" y="2653605"/>
            <a:ext cx="952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648967"/>
            <a:ext cx="17145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ENGINEERING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From Idea to Working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Structured 10-stage execution plan highlighting polyglot database implementation.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4925" y="3482280"/>
            <a:ext cx="10887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Polyglot Database Dual-Implementation Achieved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4925" y="3701355"/>
            <a:ext cx="10325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PostgreSQL handles strict transactional financial records (Customers, Accounts, Ledgers), while MongoDB stores semi-structured, high-velocity Risk Analysis reports simultaneously.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246" y="15963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2563EB"/>
                </a:solidFill>
                <a:latin typeface="Inter"/>
              </a:rPr>
              <a:t>STEP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246" y="17296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Inter"/>
              </a:rPr>
              <a:t>Problem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476" y="15963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2563EB"/>
                </a:solidFill>
                <a:latin typeface="Inter"/>
              </a:rPr>
              <a:t>STEP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6476" y="17296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Inter"/>
              </a:rPr>
              <a:t>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707" y="15963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6707" y="17296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369A1"/>
                </a:solidFill>
                <a:latin typeface="Inter"/>
              </a:rPr>
              <a:t>Database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6937" y="15963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Inter"/>
              </a:rPr>
              <a:t>STEP 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6937" y="17296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5803D"/>
                </a:solidFill>
                <a:latin typeface="Inter"/>
              </a:rPr>
              <a:t>Backend Dev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7168" y="15963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Inter"/>
              </a:rPr>
              <a:t>STEP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7168" y="17296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5803D"/>
                </a:solidFill>
                <a:latin typeface="Inter"/>
              </a:rPr>
              <a:t>API 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246" y="25869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172A"/>
                </a:solidFill>
                <a:latin typeface="Inter"/>
              </a:rPr>
              <a:t>STEP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246" y="27202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854D0E"/>
                </a:solidFill>
                <a:latin typeface="Inter"/>
              </a:rPr>
              <a:t>Final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6476" y="25869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172A"/>
                </a:solidFill>
                <a:latin typeface="Inter"/>
              </a:rPr>
              <a:t>STEP 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6476" y="27202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854D0E"/>
                </a:solidFill>
                <a:latin typeface="Inter"/>
              </a:rPr>
              <a:t>System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6707" y="25869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333EA"/>
                </a:solidFill>
                <a:latin typeface="Inter"/>
              </a:rPr>
              <a:t>STEP 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6707" y="27202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B21A8"/>
                </a:solidFill>
                <a:latin typeface="Inter"/>
              </a:rPr>
              <a:t>Risk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6937" y="25869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333EA"/>
                </a:solidFill>
                <a:latin typeface="Inter"/>
              </a:rPr>
              <a:t>STEP 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46937" y="27202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B21A8"/>
                </a:solidFill>
                <a:latin typeface="Inter"/>
              </a:rPr>
              <a:t>DB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67168" y="2586930"/>
            <a:ext cx="213828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Inter"/>
              </a:rPr>
              <a:t>STEP 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67168" y="2720280"/>
            <a:ext cx="213828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5803D"/>
                </a:solidFill>
                <a:latin typeface="Inter"/>
              </a:rPr>
              <a:t>Frontend 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53455"/>
            <a:ext cx="363215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79850" y="1453455"/>
            <a:ext cx="363215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1453455"/>
            <a:ext cx="363229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3148905"/>
            <a:ext cx="363215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79850" y="3148905"/>
            <a:ext cx="363215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02500" y="3148905"/>
            <a:ext cx="363229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7225" y="197733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225" y="241548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79875" y="197733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79875" y="241548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02525" y="1977330"/>
            <a:ext cx="3232249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02525" y="2415480"/>
            <a:ext cx="3232249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7225" y="367278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7225" y="411093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79875" y="367278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79875" y="4110930"/>
            <a:ext cx="32321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525" y="3672780"/>
            <a:ext cx="3232249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525" y="4110930"/>
            <a:ext cx="3232249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53480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875" y="1653480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1653480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34893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875" y="3348930"/>
            <a:ext cx="2190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525" y="3348930"/>
            <a:ext cx="23812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TOOLING &amp; 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Technology Stack &amp;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Connected technology layers powering the financial analytics engine.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1653480"/>
            <a:ext cx="1464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Database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" y="207258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PostgreSQL: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Structured Financial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" y="251073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MongoDB: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Flexible Risk-Analysis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000" y="1653480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DB Connectivity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3225" y="207258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psycopg2: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PostgreSQL Python Adapter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3225" y="251073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PyMongo: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Native MongoDB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8275" y="1653480"/>
            <a:ext cx="1928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Backend 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5875" y="2072580"/>
            <a:ext cx="30607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Python 3.x: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Core Business Logic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5875" y="2510730"/>
            <a:ext cx="30607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FastAPI: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High-performance REST APIs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975" y="3348930"/>
            <a:ext cx="1352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API &amp;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575" y="376803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REST API: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Standardized JSON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575" y="420618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JWT Token: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Stateful &amp; Secure Authentication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4200" y="3348930"/>
            <a:ext cx="1928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Frontend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3225" y="376803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HTML5 &amp; CSS3: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Responsive UI Layouts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3225" y="4206180"/>
            <a:ext cx="306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JavaScript (ES6):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Async Fetch &amp; DOM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5900" y="3348930"/>
            <a:ext cx="1643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Dev 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5875" y="3768030"/>
            <a:ext cx="30607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VS Code: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Primary IDE &amp; Debugger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5875" y="4206180"/>
            <a:ext cx="30607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Localhost Environment: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Python venv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996505"/>
            <a:ext cx="11277600" cy="1695450"/>
          </a:xfrm>
          <a:prstGeom prst="roundRect">
            <a:avLst>
              <a:gd name="adj" fmla="val 7865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844355"/>
            <a:ext cx="11277600" cy="390525"/>
          </a:xfrm>
          <a:prstGeom prst="roundRect">
            <a:avLst>
              <a:gd name="adj" fmla="val 2439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53455"/>
            <a:ext cx="436810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6805" y="1453455"/>
            <a:ext cx="6337994" cy="1028700"/>
          </a:xfrm>
          <a:prstGeom prst="roundRect">
            <a:avLst>
              <a:gd name="adj" fmla="val 1111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472630"/>
            <a:ext cx="4368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53455"/>
            <a:ext cx="4368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53455"/>
            <a:ext cx="3810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5780" y="145345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6805" y="2472630"/>
            <a:ext cx="63379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96805" y="1453455"/>
            <a:ext cx="63379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6805" y="1453455"/>
            <a:ext cx="38100" cy="1028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25275" y="145345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3472755"/>
            <a:ext cx="5334000" cy="100965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1250" y="3472755"/>
            <a:ext cx="5334000" cy="100965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8675" y="4129980"/>
            <a:ext cx="1590675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3175" y="4129980"/>
            <a:ext cx="174307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05" y="1872555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37" y="2634555"/>
            <a:ext cx="1619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0" y="4963417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665" y="1653480"/>
            <a:ext cx="2857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215" y="1653480"/>
            <a:ext cx="28575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3639442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3639442"/>
            <a:ext cx="17145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SYSTEM BLUEPRINT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End-to-end data pipeline connecting client interactions to polyglot storage engines.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345281" y="3206055"/>
            <a:ext cx="12882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Inter"/>
              </a:rPr>
              <a:t>POLYGLOT DATABASE PERSISTENCE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9500" y="4958655"/>
            <a:ext cx="659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Analytics Engine generates live risk score, alerts, &amp; dynamic reporting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364" y="1958280"/>
            <a:ext cx="4924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Client Web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364" y="2139255"/>
            <a:ext cx="49243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HTML / CSS / JS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7457" y="1958280"/>
            <a:ext cx="73052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FastAPI Backend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7457" y="2139255"/>
            <a:ext cx="73052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JWT Auth • Request Validation • Business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3891855"/>
            <a:ext cx="6262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Customer • Account •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925" y="4168080"/>
            <a:ext cx="1495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Inter"/>
              </a:rPr>
              <a:t>ACID / Strict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3175" y="3891855"/>
            <a:ext cx="58388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risk_analysis Collection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8425" y="4168080"/>
            <a:ext cx="1647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Flexible Schema 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325" y="3634680"/>
            <a:ext cx="209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PostgreSQL (Relational)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9875" y="3634680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15E59"/>
                </a:solidFill>
                <a:latin typeface="Inter"/>
              </a:rPr>
              <a:t>MongoDB (NoSQL Document)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34405"/>
            <a:ext cx="3657600" cy="392430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7200" y="1434405"/>
            <a:ext cx="7467600" cy="392430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1025" y="1767780"/>
            <a:ext cx="3409950" cy="34671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SYSTEM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Working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Verified interface components and operational application views.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" y="3596580"/>
            <a:ext cx="10191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Financial Form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87B0883-B7ED-C840-5C63-B71AE9F2A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4" y="2104683"/>
            <a:ext cx="3048264" cy="325402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9EC2695-576B-3DAC-AC2F-14305005F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300" y="1752238"/>
            <a:ext cx="6862499" cy="348264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0BD8AF2-5252-F5B4-D259-2DA0E0B4AE1C}"/>
              </a:ext>
            </a:extLst>
          </p:cNvPr>
          <p:cNvSpPr txBox="1"/>
          <p:nvPr/>
        </p:nvSpPr>
        <p:spPr>
          <a:xfrm>
            <a:off x="6654800" y="1049867"/>
            <a:ext cx="142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64748B"/>
                </a:solidFill>
                <a:latin typeface="Inter"/>
              </a:rPr>
              <a:t>Home Page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2D3680-37CF-CEC0-CC5E-23D2FC121FDC}"/>
              </a:ext>
            </a:extLst>
          </p:cNvPr>
          <p:cNvSpPr txBox="1"/>
          <p:nvPr/>
        </p:nvSpPr>
        <p:spPr>
          <a:xfrm>
            <a:off x="1481667" y="1167705"/>
            <a:ext cx="135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64748B"/>
                </a:solidFill>
                <a:latin typeface="Inter"/>
              </a:rPr>
              <a:t>Login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B7875-F535-F0CC-9147-256430C6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B3D5DB-18DB-563E-2448-2097E28F9705}"/>
              </a:ext>
            </a:extLst>
          </p:cNvPr>
          <p:cNvSpPr/>
          <p:nvPr/>
        </p:nvSpPr>
        <p:spPr>
          <a:xfrm>
            <a:off x="677332" y="1526817"/>
            <a:ext cx="3911599" cy="392430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A419F1-00F7-CD21-FEFC-1A3998AF8550}"/>
              </a:ext>
            </a:extLst>
          </p:cNvPr>
          <p:cNvSpPr/>
          <p:nvPr/>
        </p:nvSpPr>
        <p:spPr>
          <a:xfrm>
            <a:off x="4842933" y="1466849"/>
            <a:ext cx="7255934" cy="4214283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BBBBDA-A20A-D8BA-A1E8-589F6C0877CC}"/>
              </a:ext>
            </a:extLst>
          </p:cNvPr>
          <p:cNvSpPr/>
          <p:nvPr/>
        </p:nvSpPr>
        <p:spPr>
          <a:xfrm>
            <a:off x="804333" y="1695450"/>
            <a:ext cx="3598333" cy="34671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9E6502-9251-E613-9424-6A2DB51AB32E}"/>
              </a:ext>
            </a:extLst>
          </p:cNvPr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SYSTEM SCREENSHOTS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770812-D973-4085-486F-A7976C9F6946}"/>
              </a:ext>
            </a:extLst>
          </p:cNvPr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Working Demonstration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5F22F-32F4-8CB6-D92F-0A09DE737F02}"/>
              </a:ext>
            </a:extLst>
          </p:cNvPr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Verified interface components and operational application views.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5CD491-9B98-2BA2-E88F-D7958BF851B7}"/>
              </a:ext>
            </a:extLst>
          </p:cNvPr>
          <p:cNvSpPr txBox="1"/>
          <p:nvPr/>
        </p:nvSpPr>
        <p:spPr>
          <a:xfrm>
            <a:off x="6654799" y="1049867"/>
            <a:ext cx="237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64748B"/>
                </a:solidFill>
                <a:latin typeface="Inter"/>
              </a:rPr>
              <a:t>Accounts Page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DC977D-E93E-A67B-0FA3-4D182E67AFA4}"/>
              </a:ext>
            </a:extLst>
          </p:cNvPr>
          <p:cNvSpPr txBox="1"/>
          <p:nvPr/>
        </p:nvSpPr>
        <p:spPr>
          <a:xfrm>
            <a:off x="1481667" y="1167705"/>
            <a:ext cx="198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64748B"/>
                </a:solidFill>
                <a:latin typeface="Inter"/>
              </a:rPr>
              <a:t>Customer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35ED3-BB64-82C1-8355-AC7827E2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811867"/>
            <a:ext cx="3465102" cy="3300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37A338-7352-106A-7836-546C6AF66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67" y="1695450"/>
            <a:ext cx="6764865" cy="375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1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2C931-5963-59A4-C883-9AC8D420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BF6AD8-0CA8-2811-ECB2-2091A44B7C03}"/>
              </a:ext>
            </a:extLst>
          </p:cNvPr>
          <p:cNvSpPr/>
          <p:nvPr/>
        </p:nvSpPr>
        <p:spPr>
          <a:xfrm>
            <a:off x="651933" y="1466849"/>
            <a:ext cx="11446934" cy="4214283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89986B-2737-4D3D-5F4C-04A40E0AD284}"/>
              </a:ext>
            </a:extLst>
          </p:cNvPr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SYSTEM SCREENSHOTS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8E48E-15D1-CA52-FF70-FBDFA906631D}"/>
              </a:ext>
            </a:extLst>
          </p:cNvPr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Working Demonstration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7F823D-93CD-0541-97E6-07E1FC928805}"/>
              </a:ext>
            </a:extLst>
          </p:cNvPr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Inter"/>
              </a:rPr>
              <a:t>Verified interface components and operational application views.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3B7539-AB6C-A70E-E07D-61A22AD15A01}"/>
              </a:ext>
            </a:extLst>
          </p:cNvPr>
          <p:cNvSpPr txBox="1"/>
          <p:nvPr/>
        </p:nvSpPr>
        <p:spPr>
          <a:xfrm>
            <a:off x="4461933" y="1049867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64748B"/>
                </a:solidFill>
                <a:latin typeface="Inter"/>
              </a:rPr>
              <a:t>Output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B2E76-5C8D-D4A7-9123-A098822F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" y="1481921"/>
            <a:ext cx="10684166" cy="409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9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34405"/>
            <a:ext cx="36576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67200" y="1434405"/>
            <a:ext cx="36576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434405"/>
            <a:ext cx="36576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8163" y="2767905"/>
            <a:ext cx="3595687" cy="2069904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7200" y="2758380"/>
            <a:ext cx="36576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758380"/>
            <a:ext cx="36576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7225" y="1634430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67225" y="1634430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7225" y="1634430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7225" y="2958405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67225" y="2958405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7225" y="2958405"/>
            <a:ext cx="32575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7225" y="1891605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67225" y="1891605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7225" y="1891605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7225" y="3215580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67225" y="3215580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7225" y="3215580"/>
            <a:ext cx="32575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48717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1648717"/>
            <a:ext cx="1905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1648717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972692"/>
            <a:ext cx="1905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225" y="2972692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225" y="2972692"/>
            <a:ext cx="1905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2039242"/>
            <a:ext cx="12382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2267842"/>
            <a:ext cx="12382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225" y="2039242"/>
            <a:ext cx="12382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225" y="2267842"/>
            <a:ext cx="12382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2039242"/>
            <a:ext cx="12382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2267842"/>
            <a:ext cx="12382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363217"/>
            <a:ext cx="12382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591817"/>
            <a:ext cx="12382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225" y="3363217"/>
            <a:ext cx="12382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225" y="3591817"/>
            <a:ext cx="12382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3363217"/>
            <a:ext cx="12382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3591817"/>
            <a:ext cx="123825" cy="1333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FEATURE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What Can the System Actually Do?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Implemented and functional capabilities across core application modules.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925" y="1634430"/>
            <a:ext cx="1323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Authentication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" y="2024955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User Signup &amp; Secure Login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" y="2253555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JWT Token-based 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3925" y="1634430"/>
            <a:ext cx="2059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Customer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7225" y="2024955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Add Customer 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7225" y="2253555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View, Update, Delete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5825" y="1634430"/>
            <a:ext cx="194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Account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7225" y="2024955"/>
            <a:ext cx="39147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Create &amp; Bind Financial 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7225" y="2253555"/>
            <a:ext cx="39147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Fetch &amp; Update Account States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925" y="2958405"/>
            <a:ext cx="1190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Transactions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225" y="3348930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Process Ledger Transactions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" y="3577530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Query Transaction Histories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5825" y="2958405"/>
            <a:ext cx="1276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Risk 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7225" y="3348930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Compute Live Risk Scores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67225" y="3577530"/>
            <a:ext cx="4071937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Store Document Reports in Mongo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3925" y="2958405"/>
            <a:ext cx="1464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API Connectivity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7225" y="3348930"/>
            <a:ext cx="39147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Async Fetch Frontend REST Calls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7225" y="3577530"/>
            <a:ext cx="39147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Polyglot Routing &amp; Drivers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72780"/>
            <a:ext cx="112776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453455"/>
            <a:ext cx="5543550" cy="2028825"/>
          </a:xfrm>
          <a:prstGeom prst="roundRect">
            <a:avLst>
              <a:gd name="adj" fmla="val 5633"/>
            </a:avLst>
          </a:prstGeom>
          <a:solidFill>
            <a:srgbClr val="F0F7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453455"/>
            <a:ext cx="5543550" cy="2028825"/>
          </a:xfrm>
          <a:prstGeom prst="roundRect">
            <a:avLst>
              <a:gd name="adj" fmla="val 563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86300" y="1653480"/>
            <a:ext cx="1114425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7225" y="20059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7225" y="24631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7225" y="29203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20350" y="1653480"/>
            <a:ext cx="11144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91275" y="20059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91275" y="24631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91275" y="2920305"/>
            <a:ext cx="5143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0" y="3834705"/>
            <a:ext cx="2038350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05750" y="3834705"/>
            <a:ext cx="13811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86804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3868042"/>
            <a:ext cx="1333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POLYGLOT STORAGE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Database Implementation in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Decoupled data handling optimized for operational integrity and analytical flexibility.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375046" y="4168080"/>
            <a:ext cx="12942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1" u="none">
                <a:solidFill>
                  <a:srgbClr val="64748B"/>
                </a:solidFill>
                <a:latin typeface="Inter"/>
              </a:rPr>
              <a:t>“Polyglot persistence allows each database to handle the workload it is best suited for.”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0" y="3863280"/>
            <a:ext cx="885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2875" y="3863280"/>
            <a:ext cx="13144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Inter"/>
              </a:rPr>
              <a:t>Backend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" y="1667767"/>
            <a:ext cx="1881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Inter"/>
              </a:rPr>
              <a:t>POSTGRESQL (SQL)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1550" y="1691580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Inter"/>
              </a:rPr>
              <a:t>financial_risk_db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21011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Tables: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Customer, Account, 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25583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Key Rules: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Primary/Foreign Key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30155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Guarantees: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Strong ACID &amp; Referential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1667767"/>
            <a:ext cx="1869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Inter"/>
              </a:rPr>
              <a:t>MONGODB (NoSQL)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691580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766E"/>
                </a:solidFill>
                <a:latin typeface="Inter"/>
              </a:rPr>
              <a:t>financial_risk_db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525" y="21011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Collection: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risk_analysis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525" y="25583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Format: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Dynamic BSON/JSON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6525" y="301555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Advantage:</a:t>
            </a:r>
            <a:r>
              <a:rPr sz="975" b="0" i="0" u="none">
                <a:solidFill>
                  <a:srgbClr val="0F172A"/>
                </a:solidFill>
                <a:latin typeface="Inter"/>
              </a:rPr>
              <a:t> Flexible schema for dynamic flags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5456" y="3872805"/>
            <a:ext cx="23574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D4ED8"/>
                </a:solidFill>
                <a:latin typeface="Inter"/>
              </a:rPr>
              <a:t>PostgreSQL (Relational Requests)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8359" y="3872805"/>
            <a:ext cx="153590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766E"/>
                </a:solidFill>
                <a:latin typeface="Inter"/>
              </a:rPr>
              <a:t>MongoDB (Risk Logs)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834705"/>
            <a:ext cx="11277600" cy="752475"/>
          </a:xfrm>
          <a:prstGeom prst="roundRect">
            <a:avLst>
              <a:gd name="adj" fmla="val 15189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434405"/>
            <a:ext cx="5562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1434405"/>
            <a:ext cx="5562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615505"/>
            <a:ext cx="5562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2615505"/>
            <a:ext cx="55626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453580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3440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34405"/>
            <a:ext cx="3810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10275" y="143440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2453580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3440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34405"/>
            <a:ext cx="38100" cy="1028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725275" y="143440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34680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1550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615505"/>
            <a:ext cx="38100" cy="1028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10275" y="261550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634680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61550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615505"/>
            <a:ext cx="38100" cy="1028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725275" y="2615505"/>
            <a:ext cx="9525" cy="1028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77510" y="4106167"/>
            <a:ext cx="3366789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TECHNICAL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Results &amp;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Summary of operational outcomes across system architecture tiers.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634430"/>
            <a:ext cx="6417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Database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891605"/>
            <a:ext cx="5229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PostgreSQL successfully manages structured financial records with zero integrity violations. MongoDB provides dynamic storage for risk assessment documents.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34430"/>
            <a:ext cx="5791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5B21B6"/>
                </a:solidFill>
                <a:latin typeface="Inter"/>
              </a:rPr>
              <a:t>Backend API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91605"/>
            <a:ext cx="5229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REST APIs successfully handle asynchronous requests, validating incoming data payloads and routing operations to correct persistence layers.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815530"/>
            <a:ext cx="6417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Inter"/>
              </a:rPr>
              <a:t>Security &amp; Access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072705"/>
            <a:ext cx="5229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Role-based authentication protects controlled endpoints. JWT tokens prevent unauthorized API access across financial operations.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15530"/>
            <a:ext cx="5791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15E59"/>
                </a:solidFill>
                <a:latin typeface="Inter"/>
              </a:rPr>
              <a:t>Risk Analytics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072705"/>
            <a:ext cx="5229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Risk scoring algorithm processes transaction velocity and account metrics, successfully storing output in MongoDB risk collections.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4025205"/>
            <a:ext cx="3321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OVERALL PROJECT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4206180"/>
            <a:ext cx="3321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Final System Result &amp; Observations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3710" y="4144267"/>
            <a:ext cx="330963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monospace"/>
              </a:rPr>
              <a:t>[INSERT FINAL PROJECT RESULT / OBSERVATION]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5010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6300" y="1453455"/>
            <a:ext cx="10858500" cy="400050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0154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1967805"/>
            <a:ext cx="10858500" cy="400050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529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6300" y="2482155"/>
            <a:ext cx="10858500" cy="400050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0441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2996505"/>
            <a:ext cx="10858500" cy="400050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5584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6300" y="3510855"/>
            <a:ext cx="10858500" cy="400050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DATA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One Complete Request —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Tracing a single financial risk transaction request through the system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" y="150108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1548705"/>
            <a:ext cx="10648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Inter"/>
              </a:rPr>
              <a:t>Frontend Form Submit: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User triggers risk calculation from Web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" y="201543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2063055"/>
            <a:ext cx="10648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JWT Validation: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API gateway verifies user token and authorization header.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325" y="252978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2577405"/>
            <a:ext cx="10648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5E59"/>
                </a:solidFill>
                <a:latin typeface="Inter"/>
              </a:rPr>
              <a:t>PostgreSQL Query: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Backend queries transactional history and customer 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325" y="304413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3091755"/>
            <a:ext cx="10648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21B6"/>
                </a:solidFill>
                <a:latin typeface="Inter"/>
              </a:rPr>
              <a:t>Risk Evaluation: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Analytics module calculates risk score and flags indicators.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325" y="355848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3606105"/>
            <a:ext cx="10648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Inter"/>
              </a:rPr>
              <a:t>MongoDB Storage &amp; API Response: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Analysis logged to Mongo; JSON response rendered on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534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67200" y="14534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4534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8250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67200" y="28250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825055"/>
            <a:ext cx="36576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6631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534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05275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67200" y="26631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67200" y="14534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7200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15275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26631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14534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25275" y="14534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0347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8250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05275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7200" y="40347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67200" y="28250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7200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15275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77200" y="4034730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77200" y="2825055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77200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725275" y="2825055"/>
            <a:ext cx="9525" cy="1219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82055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1682055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225" y="1682055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053655"/>
            <a:ext cx="19050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3053655"/>
            <a:ext cx="1905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225" y="3053655"/>
            <a:ext cx="1905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MILESTONES REACHED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0550"/>
            <a:ext cx="117348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What We Successfully Built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948630"/>
            <a:ext cx="11734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Summary of completed engineering deliverables for Review-4.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225" y="1948755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Polyglot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" y="21678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Successfully unified SQL and NoSQL engines within a single 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7225" y="1948755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PostgreSQL Integration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7225" y="21678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Relational tables configured with constraints and transaction support.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7225" y="1948755"/>
            <a:ext cx="3914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MongoDB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7225" y="21678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NoSQL document storage for high-volatility risk analysis objects.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25" y="3320355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Backend API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" y="35394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Standardized REST endpoints for CRUD and analytics actions.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7225" y="3320355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JWT Authentication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7225" y="35394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Protected API endpoints and user session management.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7225" y="3320355"/>
            <a:ext cx="3914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Frontend 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7225" y="353943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Interactive dashboard providing visual feedback and reporting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419600" y="4262437"/>
            <a:ext cx="3352800" cy="685800"/>
          </a:xfrm>
          <a:prstGeom prst="roundRect">
            <a:avLst>
              <a:gd name="adj" fmla="val 16666"/>
            </a:avLst>
          </a:prstGeom>
          <a:solidFill>
            <a:srgbClr val="192234"/>
          </a:solidFill>
          <a:ln w="9525">
            <a:solidFill>
              <a:srgbClr val="25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9549" y="2747962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312" y="3767137"/>
            <a:ext cx="4905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Financial Risk Analytics with Polyglot 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3406" y="4424362"/>
            <a:ext cx="3405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Inter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3406" y="4605337"/>
            <a:ext cx="3405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Utkalika • Divya Sri • Ambika • Kavitha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1005</Words>
  <Application>Microsoft Office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Plus Jakarta Sans</vt:lpstr>
      <vt:lpstr>monospace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Kavitha Jinugu</cp:lastModifiedBy>
  <cp:revision>2</cp:revision>
  <dcterms:created xsi:type="dcterms:W3CDTF">2013-01-27T09:14:16Z</dcterms:created>
  <dcterms:modified xsi:type="dcterms:W3CDTF">2026-10-06T05:31:21Z</dcterms:modified>
  <cp:category/>
</cp:coreProperties>
</file>